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9" r:id="rId13"/>
    <p:sldId id="275" r:id="rId14"/>
    <p:sldId id="266" r:id="rId15"/>
    <p:sldId id="267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D10A"/>
    <a:srgbClr val="A6F10A"/>
    <a:srgbClr val="55BACF"/>
    <a:srgbClr val="F2F7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8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9216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192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gi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Рисунок 61">
            <a:extLst>
              <a:ext uri="{FF2B5EF4-FFF2-40B4-BE49-F238E27FC236}">
                <a16:creationId xmlns:a16="http://schemas.microsoft.com/office/drawing/2014/main" id="{FE9DA74C-AD4B-4419-B218-1512ADB4C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30352" y="347472"/>
            <a:ext cx="11100816" cy="0"/>
          </a:xfrm>
          <a:prstGeom prst="line">
            <a:avLst/>
          </a:prstGeom>
          <a:noFill/>
          <a:ln w="12700">
            <a:solidFill>
              <a:srgbClr val="2636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5439" y="6646723"/>
            <a:ext cx="11100816" cy="0"/>
          </a:xfrm>
          <a:prstGeom prst="line">
            <a:avLst/>
          </a:prstGeom>
          <a:noFill/>
          <a:ln w="12700">
            <a:solidFill>
              <a:srgbClr val="263645">
                <a:alpha val="8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-937260" y="5929162"/>
            <a:ext cx="1874520" cy="1874520"/>
          </a:xfrm>
          <a:prstGeom prst="arc">
            <a:avLst/>
          </a:prstGeom>
          <a:solidFill>
            <a:srgbClr val="68E8FF">
              <a:alpha val="5000"/>
            </a:srgbClr>
          </a:solidFill>
          <a:ln w="12700">
            <a:solidFill>
              <a:srgbClr val="68E8FF">
                <a:alpha val="1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68096" y="60350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sz="850" b="1" dirty="0">
                <a:solidFill>
                  <a:srgbClr val="7ED10A"/>
                </a:solidFill>
                <a:latin typeface="Arial"/>
              </a:rPr>
              <a:t>АГУ · C++20 / </a:t>
            </a:r>
            <a:r>
              <a:rPr sz="850" b="1" dirty="0" err="1">
                <a:solidFill>
                  <a:srgbClr val="7ED10A"/>
                </a:solidFill>
                <a:latin typeface="Arial"/>
              </a:rPr>
              <a:t>защита</a:t>
            </a:r>
            <a:r>
              <a:rPr sz="850" b="1" dirty="0">
                <a:solidFill>
                  <a:srgbClr val="7ED10A"/>
                </a:solidFill>
                <a:latin typeface="Arial"/>
              </a:rPr>
              <a:t> </a:t>
            </a:r>
            <a:r>
              <a:rPr sz="850" b="1" dirty="0" err="1">
                <a:solidFill>
                  <a:srgbClr val="7ED10A"/>
                </a:solidFill>
                <a:latin typeface="Arial"/>
              </a:rPr>
              <a:t>проекта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73127" y="938705"/>
            <a:ext cx="2999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sz="3600" b="1" dirty="0">
                <a:solidFill>
                  <a:srgbClr val="EAF4FF"/>
                </a:solidFill>
                <a:latin typeface="Arial"/>
              </a:rPr>
              <a:t>Parallel</a:t>
            </a:r>
            <a:endParaRPr lang="en-US" sz="3600" dirty="0"/>
          </a:p>
          <a:p>
            <a:pPr algn="l"/>
            <a:r>
              <a:rPr sz="3600" b="1" dirty="0">
                <a:solidFill>
                  <a:srgbClr val="EAF4FF"/>
                </a:solidFill>
                <a:latin typeface="Arial"/>
              </a:rPr>
              <a:t>Merge Sort</a:t>
            </a:r>
          </a:p>
        </p:txBody>
      </p:sp>
      <p:sp>
        <p:nvSpPr>
          <p:cNvPr id="10" name="Text 8"/>
          <p:cNvSpPr/>
          <p:nvPr/>
        </p:nvSpPr>
        <p:spPr>
          <a:xfrm>
            <a:off x="673127" y="2303325"/>
            <a:ext cx="4151376" cy="512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 lnSpcReduction="10000"/>
          </a:bodyPr>
          <a:lstStyle/>
          <a:p>
            <a:pPr marL="0" indent="0" algn="l">
              <a:buNone/>
            </a:pPr>
            <a:r>
              <a:rPr sz="1800" b="1">
                <a:solidFill>
                  <a:srgbClr val="46D9FF"/>
                </a:solidFill>
                <a:latin typeface="Arial"/>
              </a:rPr>
              <a:t>Гибридная многопоточная</a:t>
            </a:r>
            <a:endParaRPr lang="en-US" sz="2000" dirty="0"/>
          </a:p>
          <a:p>
            <a:pPr algn="l"/>
            <a:r>
              <a:rPr sz="1800" b="1">
                <a:solidFill>
                  <a:srgbClr val="46D9FF"/>
                </a:solidFill>
                <a:latin typeface="Arial"/>
              </a:rPr>
              <a:t>сортировка на C++20</a:t>
            </a:r>
          </a:p>
        </p:txBody>
      </p:sp>
      <p:sp>
        <p:nvSpPr>
          <p:cNvPr id="11" name="Text 9"/>
          <p:cNvSpPr/>
          <p:nvPr/>
        </p:nvSpPr>
        <p:spPr>
          <a:xfrm>
            <a:off x="673127" y="3077250"/>
            <a:ext cx="5039776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b="0" dirty="0" err="1">
                <a:solidFill>
                  <a:schemeClr val="bg1"/>
                </a:solidFill>
                <a:latin typeface="Arial"/>
              </a:rPr>
              <a:t>Проект</a:t>
            </a:r>
            <a:r>
              <a:rPr b="0" dirty="0">
                <a:solidFill>
                  <a:schemeClr val="bg1"/>
                </a:solidFill>
                <a:latin typeface="Arial"/>
              </a:rPr>
              <a:t> </a:t>
            </a:r>
            <a:r>
              <a:rPr b="0" dirty="0" err="1">
                <a:solidFill>
                  <a:schemeClr val="bg1"/>
                </a:solidFill>
                <a:latin typeface="Arial"/>
              </a:rPr>
              <a:t>прошёл</a:t>
            </a:r>
            <a:r>
              <a:rPr b="0" dirty="0">
                <a:solidFill>
                  <a:schemeClr val="bg1"/>
                </a:solidFill>
                <a:latin typeface="Arial"/>
              </a:rPr>
              <a:t> </a:t>
            </a:r>
            <a:r>
              <a:rPr b="0" dirty="0" err="1">
                <a:solidFill>
                  <a:schemeClr val="bg1"/>
                </a:solidFill>
                <a:latin typeface="Arial"/>
              </a:rPr>
              <a:t>путь</a:t>
            </a:r>
            <a:r>
              <a:rPr b="0" dirty="0">
                <a:solidFill>
                  <a:schemeClr val="bg1"/>
                </a:solidFill>
                <a:latin typeface="Arial"/>
              </a:rPr>
              <a:t> </a:t>
            </a:r>
            <a:r>
              <a:rPr b="0" dirty="0" err="1">
                <a:solidFill>
                  <a:schemeClr val="bg1"/>
                </a:solidFill>
                <a:latin typeface="Arial"/>
              </a:rPr>
              <a:t>от</a:t>
            </a:r>
            <a:r>
              <a:rPr b="0" dirty="0">
                <a:solidFill>
                  <a:schemeClr val="bg1"/>
                </a:solidFill>
                <a:latin typeface="Arial"/>
              </a:rPr>
              <a:t> </a:t>
            </a:r>
            <a:r>
              <a:rPr b="0" dirty="0" err="1">
                <a:solidFill>
                  <a:schemeClr val="bg1"/>
                </a:solidFill>
                <a:latin typeface="Arial"/>
              </a:rPr>
              <a:t>наивного</a:t>
            </a:r>
            <a:r>
              <a:rPr b="0" dirty="0">
                <a:solidFill>
                  <a:schemeClr val="bg1"/>
                </a:solidFill>
                <a:latin typeface="Arial"/>
              </a:rPr>
              <a:t> std::async к </a:t>
            </a:r>
            <a:r>
              <a:rPr b="0" dirty="0" err="1">
                <a:solidFill>
                  <a:schemeClr val="bg1"/>
                </a:solidFill>
                <a:latin typeface="Arial"/>
              </a:rPr>
              <a:t>инженерной</a:t>
            </a:r>
            <a:r>
              <a:rPr b="0" dirty="0">
                <a:solidFill>
                  <a:schemeClr val="bg1"/>
                </a:solidFill>
                <a:latin typeface="Arial"/>
              </a:rPr>
              <a:t> </a:t>
            </a:r>
            <a:r>
              <a:rPr b="0" dirty="0" err="1">
                <a:solidFill>
                  <a:schemeClr val="bg1"/>
                </a:solidFill>
                <a:latin typeface="Arial"/>
              </a:rPr>
              <a:t>версии</a:t>
            </a:r>
            <a:r>
              <a:rPr b="0" dirty="0">
                <a:solidFill>
                  <a:schemeClr val="bg1"/>
                </a:solidFill>
                <a:latin typeface="Arial"/>
              </a:rPr>
              <a:t>: threshold 16384, </a:t>
            </a:r>
            <a:r>
              <a:rPr b="0" dirty="0" err="1">
                <a:solidFill>
                  <a:schemeClr val="bg1"/>
                </a:solidFill>
                <a:latin typeface="Arial"/>
              </a:rPr>
              <a:t>контроль</a:t>
            </a:r>
            <a:r>
              <a:rPr b="0" dirty="0">
                <a:solidFill>
                  <a:schemeClr val="bg1"/>
                </a:solidFill>
                <a:latin typeface="Arial"/>
              </a:rPr>
              <a:t> </a:t>
            </a:r>
            <a:r>
              <a:rPr b="0" dirty="0" err="1">
                <a:solidFill>
                  <a:schemeClr val="bg1"/>
                </a:solidFill>
                <a:latin typeface="Arial"/>
              </a:rPr>
              <a:t>глубины</a:t>
            </a:r>
            <a:r>
              <a:rPr b="0" dirty="0">
                <a:solidFill>
                  <a:schemeClr val="bg1"/>
                </a:solidFill>
                <a:latin typeface="Arial"/>
              </a:rPr>
              <a:t>, </a:t>
            </a:r>
            <a:r>
              <a:rPr b="0" dirty="0" err="1">
                <a:solidFill>
                  <a:schemeClr val="bg1"/>
                </a:solidFill>
                <a:latin typeface="Arial"/>
              </a:rPr>
              <a:t>один</a:t>
            </a:r>
            <a:r>
              <a:rPr b="0" dirty="0">
                <a:solidFill>
                  <a:schemeClr val="bg1"/>
                </a:solidFill>
                <a:latin typeface="Arial"/>
              </a:rPr>
              <a:t> </a:t>
            </a:r>
            <a:r>
              <a:rPr b="0" dirty="0" err="1">
                <a:solidFill>
                  <a:schemeClr val="bg1"/>
                </a:solidFill>
                <a:latin typeface="Arial"/>
              </a:rPr>
              <a:t>буфер</a:t>
            </a:r>
            <a:r>
              <a:rPr b="0" dirty="0">
                <a:solidFill>
                  <a:schemeClr val="bg1"/>
                </a:solidFill>
                <a:latin typeface="Arial"/>
              </a:rPr>
              <a:t> и speedup 2.03× </a:t>
            </a:r>
            <a:r>
              <a:rPr b="0" dirty="0" err="1">
                <a:solidFill>
                  <a:schemeClr val="bg1"/>
                </a:solidFill>
                <a:latin typeface="Arial"/>
              </a:rPr>
              <a:t>на</a:t>
            </a:r>
            <a:r>
              <a:rPr b="0" dirty="0">
                <a:solidFill>
                  <a:schemeClr val="bg1"/>
                </a:solidFill>
                <a:latin typeface="Arial"/>
              </a:rPr>
              <a:t> 10 </a:t>
            </a:r>
            <a:r>
              <a:rPr b="0" dirty="0" err="1">
                <a:solidFill>
                  <a:schemeClr val="bg1"/>
                </a:solidFill>
                <a:latin typeface="Arial"/>
              </a:rPr>
              <a:t>млн</a:t>
            </a:r>
            <a:r>
              <a:rPr b="0" dirty="0">
                <a:solidFill>
                  <a:schemeClr val="bg1"/>
                </a:solidFill>
                <a:latin typeface="Arial"/>
              </a:rPr>
              <a:t> int.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CB1671E5-F866-4F14-8384-CE282480F95B}"/>
              </a:ext>
            </a:extLst>
          </p:cNvPr>
          <p:cNvGrpSpPr/>
          <p:nvPr/>
        </p:nvGrpSpPr>
        <p:grpSpPr>
          <a:xfrm>
            <a:off x="606231" y="5339134"/>
            <a:ext cx="1324677" cy="528747"/>
            <a:chOff x="786384" y="3493008"/>
            <a:chExt cx="1133856" cy="256032"/>
          </a:xfrm>
        </p:grpSpPr>
        <p:sp>
          <p:nvSpPr>
            <p:cNvPr id="12" name="Shape 10"/>
            <p:cNvSpPr/>
            <p:nvPr/>
          </p:nvSpPr>
          <p:spPr>
            <a:xfrm>
              <a:off x="786384" y="3493008"/>
              <a:ext cx="1133856" cy="256032"/>
            </a:xfrm>
            <a:prstGeom prst="roundRect">
              <a:avLst>
                <a:gd name="adj" fmla="val 17857"/>
              </a:avLst>
            </a:prstGeom>
            <a:solidFill>
              <a:srgbClr val="76B900">
                <a:alpha val="16000"/>
              </a:srgbClr>
            </a:solidFill>
            <a:ln w="12700">
              <a:solidFill>
                <a:srgbClr val="76B900">
                  <a:alpha val="70000"/>
                </a:srgbClr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Text 11"/>
            <p:cNvSpPr/>
            <p:nvPr/>
          </p:nvSpPr>
          <p:spPr>
            <a:xfrm>
              <a:off x="786384" y="3557016"/>
              <a:ext cx="1133856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5000"/>
            </a:bodyPr>
            <a:lstStyle/>
            <a:p>
              <a:pPr marL="0" indent="0" algn="ctr">
                <a:buNone/>
              </a:pPr>
              <a:r>
                <a:rPr sz="1200" b="0">
                  <a:solidFill>
                    <a:srgbClr val="EAF4FF"/>
                  </a:solidFill>
                  <a:latin typeface="Arial"/>
                </a:rPr>
                <a:t>C++20</a:t>
              </a:r>
              <a:endParaRPr lang="en-US" sz="1200" dirty="0"/>
            </a:p>
          </p:txBody>
        </p:sp>
      </p:grp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24C1F2E6-FF36-4389-8682-1D2F04EC8C75}"/>
              </a:ext>
            </a:extLst>
          </p:cNvPr>
          <p:cNvGrpSpPr/>
          <p:nvPr/>
        </p:nvGrpSpPr>
        <p:grpSpPr>
          <a:xfrm>
            <a:off x="2084832" y="5339133"/>
            <a:ext cx="1920240" cy="528747"/>
            <a:chOff x="2084832" y="3493008"/>
            <a:chExt cx="1920240" cy="256032"/>
          </a:xfrm>
        </p:grpSpPr>
        <p:sp>
          <p:nvSpPr>
            <p:cNvPr id="14" name="Shape 12"/>
            <p:cNvSpPr/>
            <p:nvPr/>
          </p:nvSpPr>
          <p:spPr>
            <a:xfrm>
              <a:off x="2084832" y="3493008"/>
              <a:ext cx="1920240" cy="256032"/>
            </a:xfrm>
            <a:prstGeom prst="roundRect">
              <a:avLst>
                <a:gd name="adj" fmla="val 17857"/>
              </a:avLst>
            </a:prstGeom>
            <a:solidFill>
              <a:srgbClr val="68E8FF">
                <a:alpha val="16000"/>
              </a:srgbClr>
            </a:solidFill>
            <a:ln w="12700">
              <a:solidFill>
                <a:srgbClr val="68E8FF">
                  <a:alpha val="70000"/>
                </a:srgbClr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Text 13"/>
            <p:cNvSpPr/>
            <p:nvPr/>
          </p:nvSpPr>
          <p:spPr>
            <a:xfrm>
              <a:off x="2084832" y="3557016"/>
              <a:ext cx="1920240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5000"/>
            </a:bodyPr>
            <a:lstStyle/>
            <a:p>
              <a:pPr marL="0" indent="0" algn="ctr">
                <a:buNone/>
              </a:pPr>
              <a:r>
                <a:rPr sz="1200" b="0">
                  <a:solidFill>
                    <a:srgbClr val="EAF4FF"/>
                  </a:solidFill>
                  <a:latin typeface="Arial"/>
                </a:rPr>
                <a:t>std::async</a:t>
              </a:r>
              <a:endParaRPr lang="en-US" sz="1200" dirty="0"/>
            </a:p>
          </p:txBody>
        </p:sp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7F08441C-AA91-40EB-8880-12F128CD2E62}"/>
              </a:ext>
            </a:extLst>
          </p:cNvPr>
          <p:cNvGrpSpPr/>
          <p:nvPr/>
        </p:nvGrpSpPr>
        <p:grpSpPr>
          <a:xfrm>
            <a:off x="4158996" y="5343303"/>
            <a:ext cx="1627632" cy="528743"/>
            <a:chOff x="4187952" y="3493008"/>
            <a:chExt cx="1627632" cy="256032"/>
          </a:xfrm>
        </p:grpSpPr>
        <p:sp>
          <p:nvSpPr>
            <p:cNvPr id="16" name="Shape 14"/>
            <p:cNvSpPr/>
            <p:nvPr/>
          </p:nvSpPr>
          <p:spPr>
            <a:xfrm>
              <a:off x="4187952" y="3493008"/>
              <a:ext cx="1627632" cy="256032"/>
            </a:xfrm>
            <a:prstGeom prst="roundRect">
              <a:avLst>
                <a:gd name="adj" fmla="val 17857"/>
              </a:avLst>
            </a:prstGeom>
            <a:solidFill>
              <a:srgbClr val="FF6B7E">
                <a:alpha val="16000"/>
              </a:srgbClr>
            </a:solidFill>
            <a:ln w="12700">
              <a:solidFill>
                <a:srgbClr val="FF6B7E">
                  <a:alpha val="70000"/>
                </a:srgbClr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Text 15"/>
            <p:cNvSpPr/>
            <p:nvPr/>
          </p:nvSpPr>
          <p:spPr>
            <a:xfrm>
              <a:off x="4187952" y="3557016"/>
              <a:ext cx="1627632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5000"/>
            </a:bodyPr>
            <a:lstStyle/>
            <a:p>
              <a:pPr marL="0" indent="0" algn="ctr">
                <a:buNone/>
              </a:pPr>
              <a:r>
                <a:rPr sz="1200" b="0">
                  <a:solidFill>
                    <a:srgbClr val="EAF4FF"/>
                  </a:solidFill>
                  <a:latin typeface="Arial"/>
                </a:rPr>
                <a:t>2.03× speedup</a:t>
              </a:r>
              <a:endParaRPr lang="en-US" sz="1200" dirty="0"/>
            </a:p>
          </p:txBody>
        </p:sp>
      </p:grpSp>
      <p:sp>
        <p:nvSpPr>
          <p:cNvPr id="18" name="Shape 16"/>
          <p:cNvSpPr/>
          <p:nvPr/>
        </p:nvSpPr>
        <p:spPr>
          <a:xfrm>
            <a:off x="6905066" y="620828"/>
            <a:ext cx="5155872" cy="5916167"/>
          </a:xfrm>
          <a:prstGeom prst="roundRect">
            <a:avLst>
              <a:gd name="adj" fmla="val 1476"/>
            </a:avLst>
          </a:prstGeom>
          <a:solidFill>
            <a:srgbClr val="162331"/>
          </a:solidFill>
          <a:ln w="12700">
            <a:solidFill>
              <a:srgbClr val="263645">
                <a:alpha val="8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165757" y="768096"/>
            <a:ext cx="3474720" cy="512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sz="2000" b="1" dirty="0" err="1">
                <a:solidFill>
                  <a:srgbClr val="7ED10A"/>
                </a:solidFill>
                <a:latin typeface="Arial"/>
              </a:rPr>
              <a:t>Ключевая</a:t>
            </a:r>
            <a:r>
              <a:rPr sz="2000" b="1" dirty="0">
                <a:solidFill>
                  <a:srgbClr val="7ED10A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7ED10A"/>
                </a:solidFill>
                <a:latin typeface="Arial"/>
              </a:rPr>
              <a:t>идея</a:t>
            </a:r>
            <a:r>
              <a:rPr sz="2000" b="1" dirty="0">
                <a:solidFill>
                  <a:srgbClr val="7ED10A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7ED10A"/>
                </a:solidFill>
                <a:latin typeface="Arial"/>
              </a:rPr>
              <a:t>проекта</a:t>
            </a:r>
            <a:endParaRPr lang="en-US" sz="2000" dirty="0">
              <a:solidFill>
                <a:srgbClr val="7ED10A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7163640" y="1391293"/>
            <a:ext cx="49552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7500" lnSpcReduction="20000"/>
          </a:bodyPr>
          <a:lstStyle/>
          <a:p>
            <a:pPr marL="0" indent="0" algn="l">
              <a:buNone/>
            </a:pPr>
            <a:r>
              <a:rPr sz="2300" b="1">
                <a:solidFill>
                  <a:srgbClr val="EAF4FF"/>
                </a:solidFill>
                <a:latin typeface="Arial"/>
              </a:rPr>
              <a:t>Не просто распараллелить сортировку,</a:t>
            </a:r>
            <a:endParaRPr lang="en-US" sz="2400" dirty="0"/>
          </a:p>
          <a:p>
            <a:pPr algn="l"/>
            <a:r>
              <a:rPr sz="2300" b="1">
                <a:solidFill>
                  <a:srgbClr val="EAF4FF"/>
                </a:solidFill>
                <a:latin typeface="Arial"/>
              </a:rPr>
              <a:t>а убрать overhead, который делает</a:t>
            </a:r>
          </a:p>
          <a:p>
            <a:pPr algn="l"/>
            <a:r>
              <a:rPr sz="2300" b="1">
                <a:solidFill>
                  <a:srgbClr val="EAF4FF"/>
                </a:solidFill>
                <a:latin typeface="Arial"/>
              </a:rPr>
              <a:t>многопоточность медленнее.</a:t>
            </a:r>
          </a:p>
        </p:txBody>
      </p:sp>
      <p:sp>
        <p:nvSpPr>
          <p:cNvPr id="21" name="Text 19"/>
          <p:cNvSpPr/>
          <p:nvPr/>
        </p:nvSpPr>
        <p:spPr>
          <a:xfrm>
            <a:off x="7163640" y="2931849"/>
            <a:ext cx="2175630" cy="509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sz="1400" b="1" dirty="0" err="1">
                <a:solidFill>
                  <a:srgbClr val="7ED10A"/>
                </a:solidFill>
                <a:latin typeface="Arial"/>
              </a:rPr>
              <a:t>Контур</a:t>
            </a:r>
            <a:r>
              <a:rPr sz="1400" b="1" dirty="0">
                <a:solidFill>
                  <a:srgbClr val="7ED10A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7ED10A"/>
                </a:solidFill>
                <a:latin typeface="Arial"/>
              </a:rPr>
              <a:t>решения</a:t>
            </a:r>
            <a:endParaRPr lang="en-US" sz="1400" dirty="0">
              <a:solidFill>
                <a:srgbClr val="7ED10A"/>
              </a:solidFill>
            </a:endParaRPr>
          </a:p>
        </p:txBody>
      </p:sp>
      <p:grpSp>
        <p:nvGrpSpPr>
          <p:cNvPr id="49" name="Группа 48">
            <a:extLst>
              <a:ext uri="{FF2B5EF4-FFF2-40B4-BE49-F238E27FC236}">
                <a16:creationId xmlns:a16="http://schemas.microsoft.com/office/drawing/2014/main" id="{A213539F-049A-4E06-ADFF-71A361DF6BA5}"/>
              </a:ext>
            </a:extLst>
          </p:cNvPr>
          <p:cNvGrpSpPr/>
          <p:nvPr/>
        </p:nvGrpSpPr>
        <p:grpSpPr>
          <a:xfrm>
            <a:off x="7189257" y="4539851"/>
            <a:ext cx="1371600" cy="1196097"/>
            <a:chOff x="6711696" y="4279392"/>
            <a:chExt cx="1371600" cy="749808"/>
          </a:xfrm>
        </p:grpSpPr>
        <p:sp>
          <p:nvSpPr>
            <p:cNvPr id="36" name="Shape 34"/>
            <p:cNvSpPr/>
            <p:nvPr/>
          </p:nvSpPr>
          <p:spPr>
            <a:xfrm>
              <a:off x="6711696" y="4279392"/>
              <a:ext cx="1371600" cy="749808"/>
            </a:xfrm>
            <a:prstGeom prst="roundRect">
              <a:avLst>
                <a:gd name="adj" fmla="val 9756"/>
              </a:avLst>
            </a:prstGeom>
            <a:solidFill>
              <a:srgbClr val="162331"/>
            </a:solidFill>
            <a:ln w="12700">
              <a:solidFill>
                <a:srgbClr val="76B900">
                  <a:alpha val="66000"/>
                </a:srgbClr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Text 35"/>
            <p:cNvSpPr/>
            <p:nvPr/>
          </p:nvSpPr>
          <p:spPr>
            <a:xfrm>
              <a:off x="6839712" y="4407408"/>
              <a:ext cx="1115568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7E8C9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Ядро</a:t>
              </a:r>
              <a:endParaRPr lang="en-US" sz="120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6839712" y="4590288"/>
              <a:ext cx="111556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5000"/>
            </a:bodyPr>
            <a:lstStyle/>
            <a:p>
              <a:pPr marL="0" indent="0" algn="l">
                <a:buNone/>
              </a:pPr>
              <a:r>
                <a:rPr sz="1600" b="0">
                  <a:solidFill>
                    <a:srgbClr val="EAF4FF"/>
                  </a:solidFill>
                  <a:latin typeface="Arial"/>
                </a:rPr>
                <a:t>std::sort</a:t>
              </a:r>
              <a:endParaRPr lang="en-US" sz="1600" dirty="0"/>
            </a:p>
          </p:txBody>
        </p:sp>
      </p:grpSp>
      <p:grpSp>
        <p:nvGrpSpPr>
          <p:cNvPr id="50" name="Группа 49">
            <a:extLst>
              <a:ext uri="{FF2B5EF4-FFF2-40B4-BE49-F238E27FC236}">
                <a16:creationId xmlns:a16="http://schemas.microsoft.com/office/drawing/2014/main" id="{D571FF30-7225-4B67-9F93-9B16272FB16C}"/>
              </a:ext>
            </a:extLst>
          </p:cNvPr>
          <p:cNvGrpSpPr/>
          <p:nvPr/>
        </p:nvGrpSpPr>
        <p:grpSpPr>
          <a:xfrm>
            <a:off x="8822819" y="4529555"/>
            <a:ext cx="1371600" cy="1232672"/>
            <a:chOff x="8211312" y="4279392"/>
            <a:chExt cx="1371600" cy="749808"/>
          </a:xfrm>
        </p:grpSpPr>
        <p:sp>
          <p:nvSpPr>
            <p:cNvPr id="39" name="Shape 37"/>
            <p:cNvSpPr/>
            <p:nvPr/>
          </p:nvSpPr>
          <p:spPr>
            <a:xfrm>
              <a:off x="8211312" y="4279392"/>
              <a:ext cx="1371600" cy="749808"/>
            </a:xfrm>
            <a:prstGeom prst="roundRect">
              <a:avLst>
                <a:gd name="adj" fmla="val 9756"/>
              </a:avLst>
            </a:prstGeom>
            <a:solidFill>
              <a:srgbClr val="162331"/>
            </a:solidFill>
            <a:ln w="12700">
              <a:solidFill>
                <a:srgbClr val="68E8FF">
                  <a:alpha val="66000"/>
                </a:srgbClr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Text 38"/>
            <p:cNvSpPr/>
            <p:nvPr/>
          </p:nvSpPr>
          <p:spPr>
            <a:xfrm>
              <a:off x="8320342" y="4384268"/>
              <a:ext cx="1115568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7E8C9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Данные</a:t>
              </a:r>
              <a:endParaRPr lang="en-US" sz="12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8320342" y="4624617"/>
              <a:ext cx="111556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95000"/>
            </a:bodyPr>
            <a:lstStyle/>
            <a:p>
              <a:pPr marL="0" indent="0" algn="l">
                <a:buNone/>
              </a:pPr>
              <a:r>
                <a:rPr sz="1600" b="0">
                  <a:solidFill>
                    <a:srgbClr val="EAF4FF"/>
                  </a:solidFill>
                  <a:latin typeface="Arial"/>
                </a:rPr>
                <a:t>8 лог. ядер</a:t>
              </a:r>
              <a:endParaRPr lang="en-US" sz="1600" dirty="0"/>
            </a:p>
          </p:txBody>
        </p:sp>
      </p:grpSp>
      <p:grpSp>
        <p:nvGrpSpPr>
          <p:cNvPr id="53" name="Группа 52">
            <a:extLst>
              <a:ext uri="{FF2B5EF4-FFF2-40B4-BE49-F238E27FC236}">
                <a16:creationId xmlns:a16="http://schemas.microsoft.com/office/drawing/2014/main" id="{7F993D45-3BF5-4DF2-83C6-C155B408C310}"/>
              </a:ext>
            </a:extLst>
          </p:cNvPr>
          <p:cNvGrpSpPr/>
          <p:nvPr/>
        </p:nvGrpSpPr>
        <p:grpSpPr>
          <a:xfrm>
            <a:off x="10456381" y="4545015"/>
            <a:ext cx="1371600" cy="1241817"/>
            <a:chOff x="9727385" y="4645151"/>
            <a:chExt cx="1371600" cy="1241817"/>
          </a:xfrm>
        </p:grpSpPr>
        <p:sp>
          <p:nvSpPr>
            <p:cNvPr id="42" name="Shape 40"/>
            <p:cNvSpPr/>
            <p:nvPr/>
          </p:nvSpPr>
          <p:spPr>
            <a:xfrm>
              <a:off x="9727385" y="4645151"/>
              <a:ext cx="1371600" cy="1241817"/>
            </a:xfrm>
            <a:prstGeom prst="roundRect">
              <a:avLst>
                <a:gd name="adj" fmla="val 9756"/>
              </a:avLst>
            </a:prstGeom>
            <a:solidFill>
              <a:srgbClr val="162331"/>
            </a:solidFill>
            <a:ln w="12700">
              <a:solidFill>
                <a:srgbClr val="6EA8FF">
                  <a:alpha val="66000"/>
                </a:srgbClr>
              </a:solidFill>
              <a:prstDash val="soli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Text 41"/>
            <p:cNvSpPr/>
            <p:nvPr/>
          </p:nvSpPr>
          <p:spPr>
            <a:xfrm>
              <a:off x="9870707" y="4858508"/>
              <a:ext cx="1115568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7E8C9B"/>
                  </a:solidFill>
                  <a:latin typeface="Segoe UI" pitchFamily="34" charset="0"/>
                  <a:ea typeface="Segoe UI" pitchFamily="34" charset="-122"/>
                  <a:cs typeface="Segoe UI" pitchFamily="34" charset="-120"/>
                </a:rPr>
                <a:t>Режим</a:t>
              </a:r>
              <a:endParaRPr lang="en-US" sz="12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9852662" y="5210107"/>
              <a:ext cx="111556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87500" lnSpcReduction="10000"/>
            </a:bodyPr>
            <a:lstStyle/>
            <a:p>
              <a:pPr marL="0" indent="0" algn="l">
                <a:buNone/>
              </a:pPr>
              <a:r>
                <a:rPr sz="1600" b="0">
                  <a:solidFill>
                    <a:srgbClr val="EAF4FF"/>
                  </a:solidFill>
                  <a:latin typeface="Arial"/>
                </a:rPr>
                <a:t>L2 cache</a:t>
              </a:r>
              <a:endParaRPr lang="en-US" sz="1600" dirty="0"/>
            </a:p>
          </p:txBody>
        </p:sp>
      </p:grpSp>
      <p:sp>
        <p:nvSpPr>
          <p:cNvPr id="6" name="Shape 4"/>
          <p:cNvSpPr/>
          <p:nvPr/>
        </p:nvSpPr>
        <p:spPr>
          <a:xfrm rot="10800000">
            <a:off x="11155680" y="-1060704"/>
            <a:ext cx="2011680" cy="2011680"/>
          </a:xfrm>
          <a:prstGeom prst="arc">
            <a:avLst/>
          </a:prstGeom>
          <a:solidFill>
            <a:srgbClr val="76B900">
              <a:alpha val="8000"/>
            </a:srgbClr>
          </a:solidFill>
          <a:ln w="12700">
            <a:solidFill>
              <a:srgbClr val="76B900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BF66D069-C86F-44DE-AF80-7B7926C58231}"/>
              </a:ext>
            </a:extLst>
          </p:cNvPr>
          <p:cNvGrpSpPr/>
          <p:nvPr/>
        </p:nvGrpSpPr>
        <p:grpSpPr>
          <a:xfrm>
            <a:off x="7163640" y="3518703"/>
            <a:ext cx="4638724" cy="771570"/>
            <a:chOff x="6698864" y="3513130"/>
            <a:chExt cx="4224528" cy="530352"/>
          </a:xfrm>
        </p:grpSpPr>
        <p:grpSp>
          <p:nvGrpSpPr>
            <p:cNvPr id="52" name="Группа 51">
              <a:extLst>
                <a:ext uri="{FF2B5EF4-FFF2-40B4-BE49-F238E27FC236}">
                  <a16:creationId xmlns:a16="http://schemas.microsoft.com/office/drawing/2014/main" id="{F1212BBF-CE53-4073-A252-C1A51CB1177E}"/>
                </a:ext>
              </a:extLst>
            </p:cNvPr>
            <p:cNvGrpSpPr/>
            <p:nvPr/>
          </p:nvGrpSpPr>
          <p:grpSpPr>
            <a:xfrm>
              <a:off x="6698864" y="3513130"/>
              <a:ext cx="4224528" cy="530352"/>
              <a:chOff x="6711696" y="3127248"/>
              <a:chExt cx="4224528" cy="530352"/>
            </a:xfrm>
          </p:grpSpPr>
          <p:sp>
            <p:nvSpPr>
              <p:cNvPr id="22" name="Shape 20"/>
              <p:cNvSpPr/>
              <p:nvPr/>
            </p:nvSpPr>
            <p:spPr>
              <a:xfrm>
                <a:off x="6711696" y="3127248"/>
                <a:ext cx="749808" cy="530352"/>
              </a:xfrm>
              <a:prstGeom prst="roundRect">
                <a:avLst>
                  <a:gd name="adj" fmla="val 13793"/>
                </a:avLst>
              </a:prstGeom>
              <a:solidFill>
                <a:srgbClr val="111C27"/>
              </a:solidFill>
              <a:ln w="12700">
                <a:solidFill>
                  <a:srgbClr val="263645">
                    <a:alpha val="72000"/>
                  </a:srgbClr>
                </a:solidFill>
                <a:prstDash val="soli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" name="Text 21"/>
              <p:cNvSpPr/>
              <p:nvPr/>
            </p:nvSpPr>
            <p:spPr>
              <a:xfrm>
                <a:off x="6735026" y="3326987"/>
                <a:ext cx="749808" cy="1097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 fontScale="87500" lnSpcReduction="10000"/>
              </a:bodyPr>
              <a:lstStyle/>
              <a:p>
                <a:pPr marL="0" indent="0" algn="ctr">
                  <a:buNone/>
                </a:pPr>
                <a:r>
                  <a:rPr sz="1200" b="0">
                    <a:solidFill>
                      <a:srgbClr val="EAF4FF"/>
                    </a:solidFill>
                    <a:latin typeface="Arial"/>
                  </a:rPr>
                  <a:t>Split</a:t>
                </a:r>
                <a:endParaRPr lang="en-US" sz="1200" dirty="0"/>
              </a:p>
            </p:txBody>
          </p:sp>
          <p:sp>
            <p:nvSpPr>
              <p:cNvPr id="24" name="Shape 22"/>
              <p:cNvSpPr/>
              <p:nvPr/>
            </p:nvSpPr>
            <p:spPr>
              <a:xfrm>
                <a:off x="7580376" y="3127248"/>
                <a:ext cx="749808" cy="530352"/>
              </a:xfrm>
              <a:prstGeom prst="roundRect">
                <a:avLst>
                  <a:gd name="adj" fmla="val 13793"/>
                </a:avLst>
              </a:prstGeom>
              <a:solidFill>
                <a:srgbClr val="111C27"/>
              </a:solidFill>
              <a:ln w="12700">
                <a:solidFill>
                  <a:srgbClr val="263645">
                    <a:alpha val="72000"/>
                  </a:srgbClr>
                </a:solidFill>
                <a:prstDash val="soli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" name="Text 23"/>
              <p:cNvSpPr/>
              <p:nvPr/>
            </p:nvSpPr>
            <p:spPr>
              <a:xfrm>
                <a:off x="7580376" y="3326987"/>
                <a:ext cx="749808" cy="1097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 fontScale="87500" lnSpcReduction="10000"/>
              </a:bodyPr>
              <a:lstStyle/>
              <a:p>
                <a:pPr marL="0" indent="0" algn="ctr">
                  <a:buNone/>
                </a:pPr>
                <a:r>
                  <a:rPr sz="1200" b="0">
                    <a:solidFill>
                      <a:srgbClr val="EAF4FF"/>
                    </a:solidFill>
                    <a:latin typeface="Arial"/>
                  </a:rPr>
                  <a:t>Sort</a:t>
                </a:r>
                <a:endParaRPr lang="en-US" sz="1200" dirty="0"/>
              </a:p>
            </p:txBody>
          </p:sp>
          <p:sp>
            <p:nvSpPr>
              <p:cNvPr id="26" name="Shape 24"/>
              <p:cNvSpPr/>
              <p:nvPr/>
            </p:nvSpPr>
            <p:spPr>
              <a:xfrm>
                <a:off x="8449056" y="3127248"/>
                <a:ext cx="749808" cy="530352"/>
              </a:xfrm>
              <a:prstGeom prst="roundRect">
                <a:avLst>
                  <a:gd name="adj" fmla="val 13793"/>
                </a:avLst>
              </a:prstGeom>
              <a:solidFill>
                <a:srgbClr val="111C27"/>
              </a:solidFill>
              <a:ln w="12700">
                <a:solidFill>
                  <a:srgbClr val="263645">
                    <a:alpha val="72000"/>
                  </a:srgbClr>
                </a:solidFill>
                <a:prstDash val="soli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" name="Text 25"/>
              <p:cNvSpPr/>
              <p:nvPr/>
            </p:nvSpPr>
            <p:spPr>
              <a:xfrm>
                <a:off x="8433366" y="3326987"/>
                <a:ext cx="749808" cy="1097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 fontScale="87500" lnSpcReduction="10000"/>
              </a:bodyPr>
              <a:lstStyle/>
              <a:p>
                <a:pPr marL="0" indent="0" algn="ctr">
                  <a:buNone/>
                </a:pPr>
                <a:r>
                  <a:rPr sz="1200" b="0">
                    <a:solidFill>
                      <a:srgbClr val="EAF4FF"/>
                    </a:solidFill>
                    <a:latin typeface="Arial"/>
                  </a:rPr>
                  <a:t>Merge</a:t>
                </a:r>
                <a:endParaRPr lang="en-US" sz="1200" dirty="0"/>
              </a:p>
            </p:txBody>
          </p:sp>
          <p:sp>
            <p:nvSpPr>
              <p:cNvPr id="28" name="Shape 26"/>
              <p:cNvSpPr/>
              <p:nvPr/>
            </p:nvSpPr>
            <p:spPr>
              <a:xfrm>
                <a:off x="9317736" y="3127248"/>
                <a:ext cx="749598" cy="530352"/>
              </a:xfrm>
              <a:prstGeom prst="roundRect">
                <a:avLst>
                  <a:gd name="adj" fmla="val 13793"/>
                </a:avLst>
              </a:prstGeom>
              <a:solidFill>
                <a:srgbClr val="76B900"/>
              </a:solidFill>
              <a:ln w="12700">
                <a:solidFill>
                  <a:srgbClr val="76B900">
                    <a:alpha val="40000"/>
                  </a:srgbClr>
                </a:solidFill>
                <a:prstDash val="soli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" name="Shape 28"/>
              <p:cNvSpPr/>
              <p:nvPr/>
            </p:nvSpPr>
            <p:spPr>
              <a:xfrm>
                <a:off x="10186416" y="3127248"/>
                <a:ext cx="749808" cy="530352"/>
              </a:xfrm>
              <a:prstGeom prst="roundRect">
                <a:avLst>
                  <a:gd name="adj" fmla="val 13793"/>
                </a:avLst>
              </a:prstGeom>
              <a:solidFill>
                <a:srgbClr val="111C27"/>
              </a:solidFill>
              <a:ln w="12700">
                <a:solidFill>
                  <a:srgbClr val="263645">
                    <a:alpha val="72000"/>
                  </a:srgbClr>
                </a:solidFill>
                <a:prstDash val="solid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1" name="Text 29"/>
              <p:cNvSpPr/>
              <p:nvPr/>
            </p:nvSpPr>
            <p:spPr>
              <a:xfrm>
                <a:off x="10178925" y="3337560"/>
                <a:ext cx="749808" cy="1097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 fontScale="87500" lnSpcReduction="10000"/>
              </a:bodyPr>
              <a:lstStyle/>
              <a:p>
                <a:pPr marL="0" indent="0" algn="ctr">
                  <a:buNone/>
                </a:pPr>
                <a:r>
                  <a:rPr sz="1200" b="0">
                    <a:solidFill>
                      <a:srgbClr val="EAF4FF"/>
                    </a:solidFill>
                    <a:latin typeface="Arial"/>
                  </a:rPr>
                  <a:t>Benchmark</a:t>
                </a:r>
                <a:endParaRPr lang="en-US" sz="1200" dirty="0"/>
              </a:p>
            </p:txBody>
          </p:sp>
          <p:sp>
            <p:nvSpPr>
              <p:cNvPr id="32" name="Shape 30"/>
              <p:cNvSpPr/>
              <p:nvPr/>
            </p:nvSpPr>
            <p:spPr>
              <a:xfrm>
                <a:off x="7461504" y="3401568"/>
                <a:ext cx="109728" cy="0"/>
              </a:xfrm>
              <a:prstGeom prst="line">
                <a:avLst/>
              </a:prstGeom>
              <a:noFill/>
              <a:ln w="12700">
                <a:solidFill>
                  <a:srgbClr val="68E8FF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3" name="Shape 31"/>
              <p:cNvSpPr/>
              <p:nvPr/>
            </p:nvSpPr>
            <p:spPr>
              <a:xfrm>
                <a:off x="8330184" y="3401568"/>
                <a:ext cx="100584" cy="0"/>
              </a:xfrm>
              <a:prstGeom prst="line">
                <a:avLst/>
              </a:prstGeom>
              <a:noFill/>
              <a:ln w="12700">
                <a:solidFill>
                  <a:srgbClr val="68E8FF"/>
                </a:solidFill>
                <a:prstDash val="solid"/>
                <a:tailEnd type="triangle"/>
              </a:ln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29" name="Text 27"/>
            <p:cNvSpPr/>
            <p:nvPr/>
          </p:nvSpPr>
          <p:spPr>
            <a:xfrm>
              <a:off x="9184239" y="3712869"/>
              <a:ext cx="960120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 fontScale="87500" lnSpcReduction="10000"/>
            </a:bodyPr>
            <a:lstStyle/>
            <a:p>
              <a:pPr marL="0" indent="0" algn="ctr">
                <a:buNone/>
              </a:pPr>
              <a:r>
                <a:rPr sz="1200" b="0">
                  <a:solidFill>
                    <a:srgbClr val="EAF4FF"/>
                  </a:solidFill>
                  <a:latin typeface="Arial"/>
                </a:rPr>
                <a:t>Cache</a:t>
              </a:r>
              <a:endParaRPr lang="en-US" sz="1200" dirty="0"/>
            </a:p>
          </p:txBody>
        </p:sp>
      </p:grpSp>
      <p:sp>
        <p:nvSpPr>
          <p:cNvPr id="55" name="Shape 31">
            <a:extLst>
              <a:ext uri="{FF2B5EF4-FFF2-40B4-BE49-F238E27FC236}">
                <a16:creationId xmlns:a16="http://schemas.microsoft.com/office/drawing/2014/main" id="{AF5842CA-B3E0-42B2-8092-E7742ECD0EED}"/>
              </a:ext>
            </a:extLst>
          </p:cNvPr>
          <p:cNvSpPr/>
          <p:nvPr/>
        </p:nvSpPr>
        <p:spPr>
          <a:xfrm>
            <a:off x="9879603" y="3910932"/>
            <a:ext cx="110446" cy="0"/>
          </a:xfrm>
          <a:prstGeom prst="line">
            <a:avLst/>
          </a:prstGeom>
          <a:noFill/>
          <a:ln w="12700">
            <a:solidFill>
              <a:srgbClr val="68E8F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6" name="Shape 31">
            <a:extLst>
              <a:ext uri="{FF2B5EF4-FFF2-40B4-BE49-F238E27FC236}">
                <a16:creationId xmlns:a16="http://schemas.microsoft.com/office/drawing/2014/main" id="{2C5973A9-D452-4BAF-93DB-E58AC61F44BA}"/>
              </a:ext>
            </a:extLst>
          </p:cNvPr>
          <p:cNvSpPr/>
          <p:nvPr/>
        </p:nvSpPr>
        <p:spPr>
          <a:xfrm>
            <a:off x="10848284" y="3910932"/>
            <a:ext cx="110446" cy="0"/>
          </a:xfrm>
          <a:prstGeom prst="line">
            <a:avLst/>
          </a:prstGeom>
          <a:noFill/>
          <a:ln w="12700">
            <a:solidFill>
              <a:srgbClr val="68E8FF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grpSp>
        <p:nvGrpSpPr>
          <p:cNvPr id="63" name="Группа 62">
            <a:extLst>
              <a:ext uri="{FF2B5EF4-FFF2-40B4-BE49-F238E27FC236}">
                <a16:creationId xmlns:a16="http://schemas.microsoft.com/office/drawing/2014/main" id="{48D17E6D-49FA-4AD7-B3FD-CA349CAAD7A4}"/>
              </a:ext>
            </a:extLst>
          </p:cNvPr>
          <p:cNvGrpSpPr/>
          <p:nvPr/>
        </p:nvGrpSpPr>
        <p:grpSpPr>
          <a:xfrm>
            <a:off x="140185" y="117434"/>
            <a:ext cx="420946" cy="374904"/>
            <a:chOff x="140185" y="117434"/>
            <a:chExt cx="420946" cy="374904"/>
          </a:xfrm>
        </p:grpSpPr>
        <p:sp>
          <p:nvSpPr>
            <p:cNvPr id="57" name="Shape 3">
              <a:extLst>
                <a:ext uri="{FF2B5EF4-FFF2-40B4-BE49-F238E27FC236}">
                  <a16:creationId xmlns:a16="http://schemas.microsoft.com/office/drawing/2014/main" id="{C10EBA0D-0705-46B3-B5DD-D60F0228206D}"/>
                </a:ext>
              </a:extLst>
            </p:cNvPr>
            <p:cNvSpPr/>
            <p:nvPr/>
          </p:nvSpPr>
          <p:spPr>
            <a:xfrm>
              <a:off x="140185" y="117434"/>
              <a:ext cx="420946" cy="374904"/>
            </a:xfrm>
            <a:prstGeom prst="roundRect">
              <a:avLst/>
            </a:prstGeom>
            <a:solidFill>
              <a:srgbClr val="1A320D">
                <a:alpha val="85000"/>
              </a:srgbClr>
            </a:solidFill>
            <a:ln w="12700">
              <a:solidFill>
                <a:srgbClr val="8AE000"/>
              </a:solidFill>
              <a:prstDash val="solid"/>
            </a:ln>
          </p:spPr>
          <p:txBody>
            <a:bodyPr/>
            <a:lstStyle/>
            <a:p>
              <a:endParaRPr lang="ru-RU"/>
            </a:p>
          </p:txBody>
        </p:sp>
        <p:sp>
          <p:nvSpPr>
            <p:cNvPr id="58" name="Text 4">
              <a:extLst>
                <a:ext uri="{FF2B5EF4-FFF2-40B4-BE49-F238E27FC236}">
                  <a16:creationId xmlns:a16="http://schemas.microsoft.com/office/drawing/2014/main" id="{9191C142-B257-43F6-897D-BFB189A43F04}"/>
                </a:ext>
              </a:extLst>
            </p:cNvPr>
            <p:cNvSpPr/>
            <p:nvPr/>
          </p:nvSpPr>
          <p:spPr>
            <a:xfrm>
              <a:off x="185285" y="219870"/>
              <a:ext cx="330743" cy="1426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>
                  <a:solidFill>
                    <a:srgbClr val="8AE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01</a:t>
              </a:r>
              <a:endParaRPr lang="en-US" sz="1200" dirty="0"/>
            </a:p>
          </p:txBody>
        </p:sp>
      </p:grpSp>
      <p:sp>
        <p:nvSpPr>
          <p:cNvPr id="66" name="Text 6">
            <a:extLst>
              <a:ext uri="{FF2B5EF4-FFF2-40B4-BE49-F238E27FC236}">
                <a16:creationId xmlns:a16="http://schemas.microsoft.com/office/drawing/2014/main" id="{577428B7-0EC7-4F43-81EC-183A5BF960FA}"/>
              </a:ext>
            </a:extLst>
          </p:cNvPr>
          <p:cNvSpPr/>
          <p:nvPr/>
        </p:nvSpPr>
        <p:spPr>
          <a:xfrm>
            <a:off x="9751835" y="182880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r">
              <a:buNone/>
            </a:pPr>
            <a:r>
              <a:rPr sz="1050" b="0">
                <a:solidFill>
                  <a:srgbClr val="9FB2C0"/>
                </a:solidFill>
                <a:latin typeface="Arial"/>
              </a:rPr>
              <a:t>PARALLEL SORT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EC9447EC-4EC8-454D-9A69-105238F1B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30352" y="347472"/>
            <a:ext cx="11100816" cy="0"/>
          </a:xfrm>
          <a:prstGeom prst="line">
            <a:avLst/>
          </a:prstGeom>
          <a:noFill/>
          <a:ln w="12700">
            <a:solidFill>
              <a:srgbClr val="2636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5592" y="6600043"/>
            <a:ext cx="11100816" cy="0"/>
          </a:xfrm>
          <a:prstGeom prst="line">
            <a:avLst/>
          </a:prstGeom>
          <a:noFill/>
          <a:ln w="12700">
            <a:solidFill>
              <a:srgbClr val="263645">
                <a:alpha val="8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 rot="10800000">
            <a:off x="11186160" y="-1054007"/>
            <a:ext cx="2011680" cy="2011680"/>
          </a:xfrm>
          <a:prstGeom prst="arc">
            <a:avLst/>
          </a:prstGeom>
          <a:solidFill>
            <a:srgbClr val="76B900">
              <a:alpha val="8000"/>
            </a:srgbClr>
          </a:solidFill>
          <a:ln w="12700">
            <a:solidFill>
              <a:srgbClr val="76B900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751835" y="182880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r">
              <a:buNone/>
            </a:pPr>
            <a:r>
              <a:rPr sz="1050" b="0">
                <a:solidFill>
                  <a:srgbClr val="9FB2C0"/>
                </a:solidFill>
                <a:latin typeface="Arial"/>
              </a:rPr>
              <a:t>PARALLEL SORT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5120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sz="819" b="1" dirty="0">
                <a:solidFill>
                  <a:srgbClr val="7ED10A"/>
                </a:solidFill>
                <a:latin typeface="Arial"/>
              </a:rPr>
              <a:t>ПРОБЛЕМА И АКТУАЛЬНОСТЬ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749808" y="786384"/>
            <a:ext cx="9015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sz="2400" b="1" dirty="0" err="1">
                <a:solidFill>
                  <a:srgbClr val="EAF4FF"/>
                </a:solidFill>
                <a:latin typeface="Arial"/>
              </a:rPr>
              <a:t>Наивная</a:t>
            </a:r>
            <a:r>
              <a:rPr sz="2400" b="1" dirty="0">
                <a:solidFill>
                  <a:srgbClr val="EAF4FF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EAF4FF"/>
                </a:solidFill>
                <a:latin typeface="Arial"/>
              </a:rPr>
              <a:t>многопоточность</a:t>
            </a:r>
            <a:r>
              <a:rPr sz="2400" b="1" dirty="0">
                <a:solidFill>
                  <a:srgbClr val="EAF4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EAF4FF"/>
                </a:solidFill>
                <a:latin typeface="Arial"/>
              </a:rPr>
              <a:t>может</a:t>
            </a:r>
            <a:r>
              <a:rPr sz="2400" b="1" dirty="0">
                <a:solidFill>
                  <a:srgbClr val="EAF4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EAF4FF"/>
                </a:solidFill>
                <a:latin typeface="Arial"/>
              </a:rPr>
              <a:t>быть</a:t>
            </a:r>
            <a:r>
              <a:rPr sz="2400" b="1" dirty="0">
                <a:solidFill>
                  <a:srgbClr val="EAF4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EAF4FF"/>
                </a:solidFill>
                <a:latin typeface="Arial"/>
              </a:rPr>
              <a:t>медленнее</a:t>
            </a:r>
            <a:r>
              <a:rPr sz="2400" b="1" dirty="0">
                <a:solidFill>
                  <a:srgbClr val="EAF4FF"/>
                </a:solidFill>
                <a:latin typeface="Arial"/>
              </a:rPr>
              <a:t> std::sort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53690" y="1572909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sz="1100" b="0" dirty="0" err="1">
                <a:solidFill>
                  <a:srgbClr val="9FB2C0"/>
                </a:solidFill>
                <a:latin typeface="Arial"/>
              </a:rPr>
              <a:t>Первая</a:t>
            </a:r>
            <a:r>
              <a:rPr sz="1100" b="0" dirty="0">
                <a:solidFill>
                  <a:srgbClr val="9FB2C0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9FB2C0"/>
                </a:solidFill>
                <a:latin typeface="Arial"/>
              </a:rPr>
              <a:t>версия</a:t>
            </a:r>
            <a:r>
              <a:rPr sz="1100" b="0" dirty="0">
                <a:solidFill>
                  <a:srgbClr val="9FB2C0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9FB2C0"/>
                </a:solidFill>
                <a:latin typeface="Arial"/>
              </a:rPr>
              <a:t>проигрывала</a:t>
            </a:r>
            <a:r>
              <a:rPr sz="1100" b="0" dirty="0">
                <a:solidFill>
                  <a:srgbClr val="9FB2C0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9FB2C0"/>
                </a:solidFill>
                <a:latin typeface="Arial"/>
              </a:rPr>
              <a:t>из-за</a:t>
            </a:r>
            <a:r>
              <a:rPr sz="1100" b="0" dirty="0">
                <a:solidFill>
                  <a:srgbClr val="9FB2C0"/>
                </a:solidFill>
                <a:latin typeface="Arial"/>
              </a:rPr>
              <a:t> overhead </a:t>
            </a:r>
            <a:r>
              <a:rPr sz="1100" b="0" dirty="0" err="1">
                <a:solidFill>
                  <a:srgbClr val="9FB2C0"/>
                </a:solidFill>
                <a:latin typeface="Arial"/>
              </a:rPr>
              <a:t>потоков</a:t>
            </a:r>
            <a:r>
              <a:rPr sz="1100" b="0" dirty="0">
                <a:solidFill>
                  <a:srgbClr val="9FB2C0"/>
                </a:solidFill>
                <a:latin typeface="Arial"/>
              </a:rPr>
              <a:t>, Memory Contention и Context Switch.</a:t>
            </a:r>
            <a:endParaRPr lang="en-US" sz="1100" dirty="0"/>
          </a:p>
        </p:txBody>
      </p:sp>
      <p:grpSp>
        <p:nvGrpSpPr>
          <p:cNvPr id="53" name="Группа 52">
            <a:extLst>
              <a:ext uri="{FF2B5EF4-FFF2-40B4-BE49-F238E27FC236}">
                <a16:creationId xmlns:a16="http://schemas.microsoft.com/office/drawing/2014/main" id="{ADB7088B-B315-47E2-9384-4D5C0B2BC844}"/>
              </a:ext>
            </a:extLst>
          </p:cNvPr>
          <p:cNvGrpSpPr/>
          <p:nvPr/>
        </p:nvGrpSpPr>
        <p:grpSpPr>
          <a:xfrm>
            <a:off x="140185" y="117434"/>
            <a:ext cx="420946" cy="374904"/>
            <a:chOff x="140185" y="117434"/>
            <a:chExt cx="420946" cy="374904"/>
          </a:xfrm>
        </p:grpSpPr>
        <p:sp>
          <p:nvSpPr>
            <p:cNvPr id="54" name="Shape 3">
              <a:extLst>
                <a:ext uri="{FF2B5EF4-FFF2-40B4-BE49-F238E27FC236}">
                  <a16:creationId xmlns:a16="http://schemas.microsoft.com/office/drawing/2014/main" id="{21B21428-EE3C-45F4-91ED-6DEB35DF1976}"/>
                </a:ext>
              </a:extLst>
            </p:cNvPr>
            <p:cNvSpPr/>
            <p:nvPr/>
          </p:nvSpPr>
          <p:spPr>
            <a:xfrm>
              <a:off x="140185" y="117434"/>
              <a:ext cx="420946" cy="374904"/>
            </a:xfrm>
            <a:prstGeom prst="roundRect">
              <a:avLst/>
            </a:prstGeom>
            <a:solidFill>
              <a:srgbClr val="1A320D">
                <a:alpha val="85000"/>
              </a:srgbClr>
            </a:solidFill>
            <a:ln w="12700">
              <a:solidFill>
                <a:srgbClr val="8AE000"/>
              </a:solidFill>
              <a:prstDash val="solid"/>
            </a:ln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55" name="Text 4">
              <a:extLst>
                <a:ext uri="{FF2B5EF4-FFF2-40B4-BE49-F238E27FC236}">
                  <a16:creationId xmlns:a16="http://schemas.microsoft.com/office/drawing/2014/main" id="{321EB569-66B2-4AFF-926C-0D40D38D472D}"/>
                </a:ext>
              </a:extLst>
            </p:cNvPr>
            <p:cNvSpPr/>
            <p:nvPr/>
          </p:nvSpPr>
          <p:spPr>
            <a:xfrm>
              <a:off x="185285" y="219870"/>
              <a:ext cx="330743" cy="1426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>
                  <a:solidFill>
                    <a:srgbClr val="8AE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02</a:t>
              </a:r>
              <a:endParaRPr lang="en-US" sz="1200" dirty="0"/>
            </a:p>
          </p:txBody>
        </p:sp>
      </p:grpSp>
      <p:sp>
        <p:nvSpPr>
          <p:cNvPr id="56" name="Rounded Rectangle 55"/>
          <p:cNvSpPr/>
          <p:nvPr/>
        </p:nvSpPr>
        <p:spPr>
          <a:xfrm>
            <a:off x="685800" y="2148840"/>
            <a:ext cx="2651760" cy="114300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400" b="1" dirty="0">
                <a:solidFill>
                  <a:srgbClr val="46D9FF"/>
                </a:solidFill>
                <a:latin typeface="Arial"/>
              </a:rPr>
              <a:t>01  </a:t>
            </a:r>
            <a:r>
              <a:rPr sz="1400" b="1" dirty="0" err="1">
                <a:solidFill>
                  <a:srgbClr val="46D9FF"/>
                </a:solidFill>
                <a:latin typeface="Arial"/>
              </a:rPr>
              <a:t>Слишком</a:t>
            </a:r>
            <a:r>
              <a:rPr sz="1400" b="1" dirty="0">
                <a:solidFill>
                  <a:srgbClr val="46D9FF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46D9FF"/>
                </a:solidFill>
                <a:latin typeface="Arial"/>
              </a:rPr>
              <a:t>много</a:t>
            </a:r>
            <a:r>
              <a:rPr sz="1400" b="1" dirty="0">
                <a:solidFill>
                  <a:srgbClr val="46D9FF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46D9FF"/>
                </a:solidFill>
                <a:latin typeface="Arial"/>
              </a:rPr>
              <a:t>потоков</a:t>
            </a:r>
            <a:br>
              <a:rPr lang="ru-RU" sz="1400" b="1" dirty="0">
                <a:solidFill>
                  <a:srgbClr val="46D9FF"/>
                </a:solidFill>
                <a:latin typeface="Arial"/>
              </a:rPr>
            </a:br>
            <a:endParaRPr sz="1400" b="1" dirty="0">
              <a:solidFill>
                <a:srgbClr val="46D9FF"/>
              </a:solidFill>
              <a:latin typeface="Arial"/>
            </a:endParaRPr>
          </a:p>
          <a:p>
            <a:pPr algn="l"/>
            <a:r>
              <a:rPr sz="1200" b="0" dirty="0" err="1">
                <a:solidFill>
                  <a:srgbClr val="EAF4FF"/>
                </a:solidFill>
                <a:latin typeface="Arial"/>
              </a:rPr>
              <a:t>Рекурсия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дробит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задачу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на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мелкие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async-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вызовы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657600" y="2148840"/>
            <a:ext cx="2651760" cy="114300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400" b="1" dirty="0">
                <a:solidFill>
                  <a:srgbClr val="FF4D6D"/>
                </a:solidFill>
                <a:latin typeface="Arial"/>
              </a:rPr>
              <a:t>02  Overhead </a:t>
            </a:r>
            <a:r>
              <a:rPr sz="1400" b="1" dirty="0" err="1">
                <a:solidFill>
                  <a:srgbClr val="FF4D6D"/>
                </a:solidFill>
                <a:latin typeface="Arial"/>
              </a:rPr>
              <a:t>дороже</a:t>
            </a:r>
            <a:br>
              <a:rPr lang="ru-RU" sz="1400" b="1" dirty="0">
                <a:solidFill>
                  <a:srgbClr val="FF4D6D"/>
                </a:solidFill>
                <a:latin typeface="Arial"/>
              </a:rPr>
            </a:br>
            <a:endParaRPr sz="1400" b="1" dirty="0">
              <a:solidFill>
                <a:srgbClr val="FF4D6D"/>
              </a:solidFill>
              <a:latin typeface="Arial"/>
            </a:endParaRPr>
          </a:p>
          <a:p>
            <a:pPr algn="l"/>
            <a:r>
              <a:rPr sz="1200" b="0" dirty="0" err="1">
                <a:solidFill>
                  <a:srgbClr val="EAF4FF"/>
                </a:solidFill>
                <a:latin typeface="Arial"/>
              </a:rPr>
              <a:t>Создание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потока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: 10–50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мкс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,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маленькая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сортировка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: 3–5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мкс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629400" y="2148840"/>
            <a:ext cx="2651760" cy="114300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FFD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400" b="1" dirty="0">
                <a:solidFill>
                  <a:srgbClr val="FFD24D"/>
                </a:solidFill>
                <a:latin typeface="Arial"/>
              </a:rPr>
              <a:t>03  Context Switch Hell</a:t>
            </a:r>
            <a:br>
              <a:rPr lang="ru-RU" sz="1400" b="1" dirty="0">
                <a:solidFill>
                  <a:srgbClr val="FFD24D"/>
                </a:solidFill>
                <a:latin typeface="Arial"/>
              </a:rPr>
            </a:br>
            <a:endParaRPr sz="1400" b="1" dirty="0">
              <a:solidFill>
                <a:srgbClr val="FFD24D"/>
              </a:solidFill>
              <a:latin typeface="Arial"/>
            </a:endParaRPr>
          </a:p>
          <a:p>
            <a:pPr algn="l"/>
            <a:r>
              <a:rPr sz="1200" b="0" dirty="0">
                <a:solidFill>
                  <a:srgbClr val="EAF4FF"/>
                </a:solidFill>
                <a:latin typeface="Arial"/>
              </a:rPr>
              <a:t>ОС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переключает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потоки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вместо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полезной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работы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601200" y="2148840"/>
            <a:ext cx="1920240" cy="114300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7ED1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400" b="1" dirty="0" err="1">
                <a:solidFill>
                  <a:srgbClr val="7ED10A"/>
                </a:solidFill>
                <a:latin typeface="Arial"/>
              </a:rPr>
              <a:t>Итог</a:t>
            </a:r>
            <a:br>
              <a:rPr lang="ru-RU" sz="1400" b="1" dirty="0">
                <a:solidFill>
                  <a:srgbClr val="7ED10A"/>
                </a:solidFill>
                <a:latin typeface="Arial"/>
              </a:rPr>
            </a:br>
            <a:endParaRPr sz="1400" b="1" dirty="0">
              <a:solidFill>
                <a:srgbClr val="7ED10A"/>
              </a:solidFill>
              <a:latin typeface="Arial"/>
            </a:endParaRPr>
          </a:p>
          <a:p>
            <a:pPr algn="l"/>
            <a:r>
              <a:rPr sz="1200" b="0" dirty="0" err="1">
                <a:solidFill>
                  <a:srgbClr val="EAF4FF"/>
                </a:solidFill>
                <a:latin typeface="Arial"/>
              </a:rPr>
              <a:t>Наивная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версия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могла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быть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медленнее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std::sort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примерно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в 2×.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85800" y="3794760"/>
            <a:ext cx="10835640" cy="128016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7ED1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600" b="1" dirty="0">
                <a:solidFill>
                  <a:srgbClr val="7ED10A"/>
                </a:solidFill>
                <a:latin typeface="Arial"/>
              </a:rPr>
              <a:t>WOW-ФАКТ</a:t>
            </a:r>
            <a:br>
              <a:rPr lang="ru-RU" sz="1600" b="1" dirty="0">
                <a:solidFill>
                  <a:srgbClr val="7ED10A"/>
                </a:solidFill>
                <a:latin typeface="Arial"/>
              </a:rPr>
            </a:br>
            <a:endParaRPr sz="1600" b="1" dirty="0">
              <a:solidFill>
                <a:srgbClr val="7ED10A"/>
              </a:solidFill>
              <a:latin typeface="Arial"/>
            </a:endParaRPr>
          </a:p>
          <a:p>
            <a:pPr algn="l"/>
            <a:r>
              <a:rPr sz="1500" b="0" dirty="0">
                <a:solidFill>
                  <a:srgbClr val="EAF4FF"/>
                </a:solidFill>
                <a:latin typeface="Arial"/>
              </a:rPr>
              <a:t>10 </a:t>
            </a:r>
            <a:r>
              <a:rPr sz="1500" b="0" dirty="0" err="1">
                <a:solidFill>
                  <a:srgbClr val="EAF4FF"/>
                </a:solidFill>
                <a:latin typeface="Arial"/>
              </a:rPr>
              <a:t>млн</a:t>
            </a:r>
            <a:r>
              <a:rPr sz="15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EAF4FF"/>
                </a:solidFill>
                <a:latin typeface="Arial"/>
              </a:rPr>
              <a:t>потоков</a:t>
            </a:r>
            <a:r>
              <a:rPr sz="1500" b="0" dirty="0">
                <a:solidFill>
                  <a:srgbClr val="EAF4FF"/>
                </a:solidFill>
                <a:latin typeface="Arial"/>
              </a:rPr>
              <a:t> × 2 МБ </a:t>
            </a:r>
            <a:r>
              <a:rPr sz="1500" b="0" dirty="0" err="1">
                <a:solidFill>
                  <a:srgbClr val="EAF4FF"/>
                </a:solidFill>
                <a:latin typeface="Arial"/>
              </a:rPr>
              <a:t>стека</a:t>
            </a:r>
            <a:r>
              <a:rPr sz="1500" b="0" dirty="0">
                <a:solidFill>
                  <a:srgbClr val="EAF4FF"/>
                </a:solidFill>
                <a:latin typeface="Arial"/>
              </a:rPr>
              <a:t> = 20 ТБ RAM. </a:t>
            </a:r>
            <a:r>
              <a:rPr sz="1500" b="0" dirty="0" err="1">
                <a:solidFill>
                  <a:srgbClr val="EAF4FF"/>
                </a:solidFill>
                <a:latin typeface="Arial"/>
              </a:rPr>
              <a:t>Поэтому</a:t>
            </a:r>
            <a:r>
              <a:rPr sz="15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EAF4FF"/>
                </a:solidFill>
                <a:latin typeface="Arial"/>
              </a:rPr>
              <a:t>нужны</a:t>
            </a:r>
            <a:r>
              <a:rPr sz="1500" b="0" dirty="0">
                <a:solidFill>
                  <a:srgbClr val="EAF4FF"/>
                </a:solidFill>
                <a:latin typeface="Arial"/>
              </a:rPr>
              <a:t> threshold и </a:t>
            </a:r>
            <a:r>
              <a:rPr sz="1500" b="0" dirty="0" err="1">
                <a:solidFill>
                  <a:srgbClr val="EAF4FF"/>
                </a:solidFill>
                <a:latin typeface="Arial"/>
              </a:rPr>
              <a:t>контроль</a:t>
            </a:r>
            <a:r>
              <a:rPr sz="15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EAF4FF"/>
                </a:solidFill>
                <a:latin typeface="Arial"/>
              </a:rPr>
              <a:t>глубины</a:t>
            </a:r>
            <a:r>
              <a:rPr sz="1500" b="0" dirty="0">
                <a:solidFill>
                  <a:srgbClr val="EAF4FF"/>
                </a:solidFill>
                <a:latin typeface="Arial"/>
              </a:rPr>
              <a:t>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85800" y="5486400"/>
            <a:ext cx="10835640" cy="59436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87500" lnSpcReduction="20000"/>
          </a:bodyPr>
          <a:lstStyle/>
          <a:p>
            <a:pPr algn="l"/>
            <a:r>
              <a:rPr sz="1300" b="1" dirty="0" err="1">
                <a:solidFill>
                  <a:srgbClr val="46D9FF"/>
                </a:solidFill>
                <a:latin typeface="Arial"/>
              </a:rPr>
              <a:t>Вывод</a:t>
            </a:r>
            <a:br>
              <a:rPr lang="ru-RU" sz="1300" b="1" dirty="0">
                <a:solidFill>
                  <a:srgbClr val="46D9FF"/>
                </a:solidFill>
                <a:latin typeface="Arial"/>
              </a:rPr>
            </a:br>
            <a:endParaRPr sz="1300" b="1" dirty="0">
              <a:solidFill>
                <a:srgbClr val="46D9FF"/>
              </a:solidFill>
              <a:latin typeface="Arial"/>
            </a:endParaRPr>
          </a:p>
          <a:p>
            <a:pPr algn="l"/>
            <a:r>
              <a:rPr sz="1200" b="0" dirty="0" err="1">
                <a:solidFill>
                  <a:srgbClr val="EAF4FF"/>
                </a:solidFill>
                <a:latin typeface="Arial"/>
              </a:rPr>
              <a:t>Многопоточность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ускоряет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только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крупные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CPU-bound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куски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, а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не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каждый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рекурсивный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вызов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Рисунок 93">
            <a:extLst>
              <a:ext uri="{FF2B5EF4-FFF2-40B4-BE49-F238E27FC236}">
                <a16:creationId xmlns:a16="http://schemas.microsoft.com/office/drawing/2014/main" id="{CA212289-E4A6-4F71-B0C2-4924FF156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72" y="0"/>
            <a:ext cx="12185522" cy="685800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30352" y="347472"/>
            <a:ext cx="11100816" cy="0"/>
          </a:xfrm>
          <a:prstGeom prst="line">
            <a:avLst/>
          </a:prstGeom>
          <a:noFill/>
          <a:ln w="12700">
            <a:solidFill>
              <a:srgbClr val="2636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30352" y="6455664"/>
            <a:ext cx="11100816" cy="0"/>
          </a:xfrm>
          <a:prstGeom prst="line">
            <a:avLst/>
          </a:prstGeom>
          <a:noFill/>
          <a:ln w="12700">
            <a:solidFill>
              <a:srgbClr val="263645">
                <a:alpha val="8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 rot="10800000">
            <a:off x="11197662" y="-988996"/>
            <a:ext cx="2011680" cy="2011680"/>
          </a:xfrm>
          <a:prstGeom prst="arc">
            <a:avLst/>
          </a:prstGeom>
          <a:solidFill>
            <a:srgbClr val="76B900">
              <a:alpha val="8000"/>
            </a:srgbClr>
          </a:solidFill>
          <a:ln w="12700">
            <a:solidFill>
              <a:srgbClr val="76B900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49808" y="5120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sz="819" b="1">
                <a:solidFill>
                  <a:srgbClr val="7ED10A"/>
                </a:solidFill>
                <a:latin typeface="Arial"/>
              </a:rPr>
              <a:t>НАШЕ РЕШЕНИЕ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749808" y="786384"/>
            <a:ext cx="9015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sz="2400" b="1" dirty="0" err="1">
                <a:solidFill>
                  <a:srgbClr val="EAF4FF"/>
                </a:solidFill>
                <a:latin typeface="Arial"/>
              </a:rPr>
              <a:t>Новые</a:t>
            </a:r>
            <a:r>
              <a:rPr sz="2400" b="1" dirty="0">
                <a:solidFill>
                  <a:srgbClr val="EAF4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EAF4FF"/>
                </a:solidFill>
                <a:latin typeface="Arial"/>
              </a:rPr>
              <a:t>потоки</a:t>
            </a:r>
            <a:r>
              <a:rPr sz="2400" b="1" dirty="0">
                <a:solidFill>
                  <a:srgbClr val="EAF4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EAF4FF"/>
                </a:solidFill>
                <a:latin typeface="Arial"/>
              </a:rPr>
              <a:t>только</a:t>
            </a:r>
            <a:r>
              <a:rPr sz="2400" b="1" dirty="0">
                <a:solidFill>
                  <a:srgbClr val="EAF4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EAF4FF"/>
                </a:solidFill>
                <a:latin typeface="Arial"/>
              </a:rPr>
              <a:t>там</a:t>
            </a:r>
            <a:r>
              <a:rPr sz="2400" b="1" dirty="0">
                <a:solidFill>
                  <a:srgbClr val="EAF4FF"/>
                </a:solidFill>
                <a:latin typeface="Arial"/>
              </a:rPr>
              <a:t>, </a:t>
            </a:r>
            <a:r>
              <a:rPr sz="2400" b="1" dirty="0" err="1">
                <a:solidFill>
                  <a:srgbClr val="EAF4FF"/>
                </a:solidFill>
                <a:latin typeface="Arial"/>
              </a:rPr>
              <a:t>где</a:t>
            </a:r>
            <a:r>
              <a:rPr sz="2400" b="1" dirty="0">
                <a:solidFill>
                  <a:srgbClr val="EAF4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EAF4FF"/>
                </a:solidFill>
                <a:latin typeface="Arial"/>
              </a:rPr>
              <a:t>они</a:t>
            </a:r>
            <a:r>
              <a:rPr sz="2400" b="1" dirty="0">
                <a:solidFill>
                  <a:srgbClr val="EAF4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EAF4FF"/>
                </a:solidFill>
                <a:latin typeface="Arial"/>
              </a:rPr>
              <a:t>окупаются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68096" y="144475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sz="1100" b="0" dirty="0">
                <a:solidFill>
                  <a:srgbClr val="9FB2C0"/>
                </a:solidFill>
                <a:latin typeface="Arial"/>
              </a:rPr>
              <a:t>Threshold, depth-control и zero-allocation </a:t>
            </a:r>
            <a:r>
              <a:rPr sz="1100" b="0" dirty="0" err="1">
                <a:solidFill>
                  <a:srgbClr val="9FB2C0"/>
                </a:solidFill>
                <a:latin typeface="Arial"/>
              </a:rPr>
              <a:t>превращают</a:t>
            </a:r>
            <a:r>
              <a:rPr sz="1100" b="0" dirty="0">
                <a:solidFill>
                  <a:srgbClr val="9FB2C0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9FB2C0"/>
                </a:solidFill>
                <a:latin typeface="Arial"/>
              </a:rPr>
              <a:t>идею</a:t>
            </a:r>
            <a:r>
              <a:rPr sz="1100" b="0" dirty="0">
                <a:solidFill>
                  <a:srgbClr val="9FB2C0"/>
                </a:solidFill>
                <a:latin typeface="Arial"/>
              </a:rPr>
              <a:t> в </a:t>
            </a:r>
            <a:r>
              <a:rPr sz="1100" b="0" dirty="0" err="1">
                <a:solidFill>
                  <a:srgbClr val="9FB2C0"/>
                </a:solidFill>
                <a:latin typeface="Arial"/>
              </a:rPr>
              <a:t>рабочую</a:t>
            </a:r>
            <a:r>
              <a:rPr sz="1100" b="0" dirty="0">
                <a:solidFill>
                  <a:srgbClr val="9FB2C0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9FB2C0"/>
                </a:solidFill>
                <a:latin typeface="Arial"/>
              </a:rPr>
              <a:t>реализацию</a:t>
            </a:r>
            <a:r>
              <a:rPr sz="1100" b="0" dirty="0">
                <a:solidFill>
                  <a:srgbClr val="9FB2C0"/>
                </a:solidFill>
                <a:latin typeface="Arial"/>
              </a:rPr>
              <a:t>.</a:t>
            </a:r>
            <a:endParaRPr lang="en-US" sz="1100" dirty="0"/>
          </a:p>
        </p:txBody>
      </p:sp>
      <p:sp>
        <p:nvSpPr>
          <p:cNvPr id="95" name="Text 6">
            <a:extLst>
              <a:ext uri="{FF2B5EF4-FFF2-40B4-BE49-F238E27FC236}">
                <a16:creationId xmlns:a16="http://schemas.microsoft.com/office/drawing/2014/main" id="{C5CD9350-DE73-41AE-9829-E49D22A0A84B}"/>
              </a:ext>
            </a:extLst>
          </p:cNvPr>
          <p:cNvSpPr/>
          <p:nvPr/>
        </p:nvSpPr>
        <p:spPr>
          <a:xfrm>
            <a:off x="9751835" y="182880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r">
              <a:buNone/>
            </a:pPr>
            <a:r>
              <a:rPr sz="1050" b="0">
                <a:solidFill>
                  <a:srgbClr val="9FB2C0"/>
                </a:solidFill>
                <a:latin typeface="Arial"/>
              </a:rPr>
              <a:t>PARALLEL SORT</a:t>
            </a:r>
            <a:endParaRPr lang="en-US" sz="1050" dirty="0"/>
          </a:p>
        </p:txBody>
      </p:sp>
      <p:grpSp>
        <p:nvGrpSpPr>
          <p:cNvPr id="96" name="Группа 95">
            <a:extLst>
              <a:ext uri="{FF2B5EF4-FFF2-40B4-BE49-F238E27FC236}">
                <a16:creationId xmlns:a16="http://schemas.microsoft.com/office/drawing/2014/main" id="{FD92C897-E2B5-4040-AA98-8A029EE1B296}"/>
              </a:ext>
            </a:extLst>
          </p:cNvPr>
          <p:cNvGrpSpPr/>
          <p:nvPr/>
        </p:nvGrpSpPr>
        <p:grpSpPr>
          <a:xfrm>
            <a:off x="140185" y="117434"/>
            <a:ext cx="420946" cy="374904"/>
            <a:chOff x="140185" y="117434"/>
            <a:chExt cx="420946" cy="374904"/>
          </a:xfrm>
        </p:grpSpPr>
        <p:sp>
          <p:nvSpPr>
            <p:cNvPr id="97" name="Shape 3">
              <a:extLst>
                <a:ext uri="{FF2B5EF4-FFF2-40B4-BE49-F238E27FC236}">
                  <a16:creationId xmlns:a16="http://schemas.microsoft.com/office/drawing/2014/main" id="{46EC984F-DBFB-4DE7-B0B0-2FDD2CDD908B}"/>
                </a:ext>
              </a:extLst>
            </p:cNvPr>
            <p:cNvSpPr/>
            <p:nvPr/>
          </p:nvSpPr>
          <p:spPr>
            <a:xfrm>
              <a:off x="140185" y="117434"/>
              <a:ext cx="420946" cy="374904"/>
            </a:xfrm>
            <a:prstGeom prst="roundRect">
              <a:avLst/>
            </a:prstGeom>
            <a:solidFill>
              <a:srgbClr val="1A320D">
                <a:alpha val="85000"/>
              </a:srgbClr>
            </a:solidFill>
            <a:ln w="12700">
              <a:solidFill>
                <a:srgbClr val="8AE000"/>
              </a:solidFill>
              <a:prstDash val="solid"/>
            </a:ln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98" name="Text 4">
              <a:extLst>
                <a:ext uri="{FF2B5EF4-FFF2-40B4-BE49-F238E27FC236}">
                  <a16:creationId xmlns:a16="http://schemas.microsoft.com/office/drawing/2014/main" id="{DF6A049B-5F93-49CA-8212-AF3CC7ACA6D2}"/>
                </a:ext>
              </a:extLst>
            </p:cNvPr>
            <p:cNvSpPr/>
            <p:nvPr/>
          </p:nvSpPr>
          <p:spPr>
            <a:xfrm>
              <a:off x="185285" y="219870"/>
              <a:ext cx="330743" cy="1426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>
                  <a:solidFill>
                    <a:srgbClr val="8AE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03</a:t>
              </a:r>
              <a:endParaRPr lang="en-US" sz="1200" dirty="0"/>
            </a:p>
          </p:txBody>
        </p:sp>
      </p:grpSp>
      <p:sp>
        <p:nvSpPr>
          <p:cNvPr id="100" name="Rounded Rectangle 99"/>
          <p:cNvSpPr/>
          <p:nvPr/>
        </p:nvSpPr>
        <p:spPr>
          <a:xfrm>
            <a:off x="1463040" y="2061972"/>
            <a:ext cx="2560320" cy="205740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7ED1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700" b="1" dirty="0">
                <a:solidFill>
                  <a:srgbClr val="7ED10A"/>
                </a:solidFill>
                <a:latin typeface="Arial"/>
              </a:rPr>
              <a:t>Prepare</a:t>
            </a:r>
            <a:br>
              <a:rPr lang="ru-RU" sz="1700" b="1" dirty="0">
                <a:solidFill>
                  <a:srgbClr val="7ED10A"/>
                </a:solidFill>
                <a:latin typeface="Arial"/>
              </a:rPr>
            </a:br>
            <a:endParaRPr sz="1700" b="1" dirty="0">
              <a:solidFill>
                <a:srgbClr val="7ED10A"/>
              </a:solidFill>
              <a:latin typeface="Arial"/>
            </a:endParaRPr>
          </a:p>
          <a:p>
            <a:pPr algn="l"/>
            <a:r>
              <a:rPr sz="1300" b="0" dirty="0" err="1">
                <a:solidFill>
                  <a:srgbClr val="EAF4FF"/>
                </a:solidFill>
                <a:latin typeface="Arial"/>
              </a:rPr>
              <a:t>один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buffer_</a:t>
            </a:r>
          </a:p>
          <a:p>
            <a:pPr algn="l"/>
            <a:r>
              <a:rPr sz="1300" b="0" dirty="0" err="1">
                <a:solidFill>
                  <a:srgbClr val="EAF4FF"/>
                </a:solidFill>
                <a:latin typeface="Arial"/>
              </a:rPr>
              <a:t>hardware_concurrency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()</a:t>
            </a:r>
          </a:p>
          <a:p>
            <a:pPr algn="l"/>
            <a:r>
              <a:rPr sz="1300" b="0" dirty="0" err="1">
                <a:solidFill>
                  <a:srgbClr val="EAF4FF"/>
                </a:solidFill>
                <a:latin typeface="Arial"/>
              </a:rPr>
              <a:t>max_depth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под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CPU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663440" y="2061972"/>
            <a:ext cx="2560320" cy="205740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700" b="1" dirty="0">
                <a:solidFill>
                  <a:srgbClr val="46D9FF"/>
                </a:solidFill>
                <a:latin typeface="Arial"/>
              </a:rPr>
              <a:t>Parallel split</a:t>
            </a:r>
            <a:br>
              <a:rPr lang="ru-RU" sz="1700" b="1" dirty="0">
                <a:solidFill>
                  <a:srgbClr val="46D9FF"/>
                </a:solidFill>
                <a:latin typeface="Arial"/>
              </a:rPr>
            </a:br>
            <a:endParaRPr sz="1700" b="1" dirty="0">
              <a:solidFill>
                <a:srgbClr val="46D9FF"/>
              </a:solidFill>
              <a:latin typeface="Arial"/>
            </a:endParaRPr>
          </a:p>
          <a:p>
            <a:pPr algn="l"/>
            <a:r>
              <a:rPr sz="1300" b="0" dirty="0">
                <a:solidFill>
                  <a:srgbClr val="EAF4FF"/>
                </a:solidFill>
                <a:latin typeface="Arial"/>
              </a:rPr>
              <a:t>left → std::async</a:t>
            </a:r>
          </a:p>
          <a:p>
            <a:pPr algn="l"/>
            <a:r>
              <a:rPr sz="1300" b="0" dirty="0">
                <a:solidFill>
                  <a:srgbClr val="EAF4FF"/>
                </a:solidFill>
                <a:latin typeface="Arial"/>
              </a:rPr>
              <a:t>right →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текущий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поток</a:t>
            </a:r>
            <a:endParaRPr sz="1300" b="0" dirty="0">
              <a:solidFill>
                <a:srgbClr val="EAF4FF"/>
              </a:solidFill>
              <a:latin typeface="Arial"/>
            </a:endParaRPr>
          </a:p>
          <a:p>
            <a:pPr algn="l"/>
            <a:r>
              <a:rPr sz="1300" b="0" dirty="0">
                <a:solidFill>
                  <a:srgbClr val="EAF4FF"/>
                </a:solidFill>
                <a:latin typeface="Arial"/>
              </a:rPr>
              <a:t>fallback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при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depth = 0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863840" y="2061972"/>
            <a:ext cx="2560320" cy="205740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FFD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700" b="1" dirty="0">
                <a:solidFill>
                  <a:srgbClr val="FFD24D"/>
                </a:solidFill>
                <a:latin typeface="Arial"/>
              </a:rPr>
              <a:t>Merge</a:t>
            </a:r>
            <a:br>
              <a:rPr lang="ru-RU" sz="1700" b="1" dirty="0">
                <a:solidFill>
                  <a:srgbClr val="FFD24D"/>
                </a:solidFill>
                <a:latin typeface="Arial"/>
              </a:rPr>
            </a:br>
            <a:endParaRPr sz="1700" b="1" dirty="0">
              <a:solidFill>
                <a:srgbClr val="FFD24D"/>
              </a:solidFill>
              <a:latin typeface="Arial"/>
            </a:endParaRPr>
          </a:p>
          <a:p>
            <a:pPr algn="l"/>
            <a:r>
              <a:rPr sz="1300" b="0" dirty="0">
                <a:solidFill>
                  <a:srgbClr val="EAF4FF"/>
                </a:solidFill>
                <a:latin typeface="Arial"/>
              </a:rPr>
              <a:t>std::copy в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буфер</a:t>
            </a:r>
            <a:endParaRPr sz="1300" b="0" dirty="0">
              <a:solidFill>
                <a:srgbClr val="EAF4FF"/>
              </a:solidFill>
              <a:latin typeface="Arial"/>
            </a:endParaRPr>
          </a:p>
          <a:p>
            <a:pPr algn="l"/>
            <a:r>
              <a:rPr sz="1300" b="0" dirty="0">
                <a:solidFill>
                  <a:srgbClr val="EAF4FF"/>
                </a:solidFill>
                <a:latin typeface="Arial"/>
              </a:rPr>
              <a:t>skip merge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на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границе</a:t>
            </a:r>
            <a:endParaRPr sz="1300" b="0" dirty="0">
              <a:solidFill>
                <a:srgbClr val="EAF4FF"/>
              </a:solidFill>
              <a:latin typeface="Arial"/>
            </a:endParaRPr>
          </a:p>
          <a:p>
            <a:pPr algn="l"/>
            <a:r>
              <a:rPr sz="1300" b="0" dirty="0" err="1">
                <a:solidFill>
                  <a:srgbClr val="EAF4FF"/>
                </a:solidFill>
                <a:latin typeface="Arial"/>
              </a:rPr>
              <a:t>проверка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benchmark’ом</a:t>
            </a:r>
            <a:endParaRPr sz="1300" b="0" dirty="0">
              <a:solidFill>
                <a:srgbClr val="EAF4FF"/>
              </a:solidFill>
              <a:latin typeface="Arial"/>
            </a:endParaRPr>
          </a:p>
        </p:txBody>
      </p:sp>
      <p:cxnSp>
        <p:nvCxnSpPr>
          <p:cNvPr id="103" name="Connector 102"/>
          <p:cNvCxnSpPr/>
          <p:nvPr/>
        </p:nvCxnSpPr>
        <p:spPr>
          <a:xfrm>
            <a:off x="4114800" y="3095244"/>
            <a:ext cx="411480" cy="0"/>
          </a:xfrm>
          <a:prstGeom prst="line">
            <a:avLst/>
          </a:prstGeom>
          <a:ln w="25400">
            <a:solidFill>
              <a:srgbClr val="9FB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269480" y="3095244"/>
            <a:ext cx="411480" cy="0"/>
          </a:xfrm>
          <a:prstGeom prst="line">
            <a:avLst/>
          </a:prstGeom>
          <a:ln w="25400">
            <a:solidFill>
              <a:srgbClr val="9FB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ounded Rectangle 104"/>
          <p:cNvSpPr/>
          <p:nvPr/>
        </p:nvSpPr>
        <p:spPr>
          <a:xfrm>
            <a:off x="1463040" y="4805172"/>
            <a:ext cx="8961120" cy="82296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7ED1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500" b="1" dirty="0" err="1">
                <a:solidFill>
                  <a:srgbClr val="7ED10A"/>
                </a:solidFill>
                <a:latin typeface="Arial"/>
              </a:rPr>
              <a:t>Цель</a:t>
            </a:r>
            <a:br>
              <a:rPr lang="ru-RU" sz="1500" b="1" dirty="0">
                <a:solidFill>
                  <a:srgbClr val="7ED10A"/>
                </a:solidFill>
                <a:latin typeface="Arial"/>
              </a:rPr>
            </a:br>
            <a:endParaRPr sz="1500" b="1" dirty="0">
              <a:solidFill>
                <a:srgbClr val="7ED10A"/>
              </a:solidFill>
              <a:latin typeface="Arial"/>
            </a:endParaRPr>
          </a:p>
          <a:p>
            <a:pPr algn="l"/>
            <a:r>
              <a:rPr sz="1300" b="0" dirty="0" err="1">
                <a:solidFill>
                  <a:srgbClr val="EAF4FF"/>
                </a:solidFill>
                <a:latin typeface="Arial"/>
              </a:rPr>
              <a:t>Получить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2.03× speedup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без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OOM,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без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перегруза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ОС и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без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лишних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аллокаций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E9F5A5CF-CD45-4ADB-8C85-5E772A50B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9429" cy="685800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30352" y="347472"/>
            <a:ext cx="11100816" cy="0"/>
          </a:xfrm>
          <a:prstGeom prst="line">
            <a:avLst/>
          </a:prstGeom>
          <a:noFill/>
          <a:ln w="12700">
            <a:solidFill>
              <a:srgbClr val="2636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30352" y="6455664"/>
            <a:ext cx="11100816" cy="0"/>
          </a:xfrm>
          <a:prstGeom prst="line">
            <a:avLst/>
          </a:prstGeom>
          <a:noFill/>
          <a:ln w="12700">
            <a:solidFill>
              <a:srgbClr val="263645">
                <a:alpha val="8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 rot="10800000">
            <a:off x="11146536" y="-1005840"/>
            <a:ext cx="2011680" cy="2011680"/>
          </a:xfrm>
          <a:prstGeom prst="arc">
            <a:avLst/>
          </a:prstGeom>
          <a:solidFill>
            <a:srgbClr val="76B900">
              <a:alpha val="8000"/>
            </a:srgbClr>
          </a:solidFill>
          <a:ln w="12700">
            <a:solidFill>
              <a:srgbClr val="76B900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49808" y="5120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sz="800" b="1" dirty="0">
                <a:solidFill>
                  <a:srgbClr val="7CDF00"/>
                </a:solidFill>
                <a:latin typeface="Aptos"/>
              </a:rPr>
              <a:t>АНИМАЦИЯ АЛГОРИТМА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49808" y="786384"/>
            <a:ext cx="9015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sz="2700" b="1">
                <a:solidFill>
                  <a:srgbClr val="F0F5FA"/>
                </a:solidFill>
                <a:latin typeface="Aptos"/>
              </a:rPr>
              <a:t>Пошаговая визуализация Merge Sort: split → recurse → merge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768096" y="1339596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sz="1600" b="0" dirty="0">
                <a:solidFill>
                  <a:srgbClr val="AAB9CD"/>
                </a:solidFill>
                <a:latin typeface="Aptos"/>
              </a:rPr>
              <a:t>GIF-</a:t>
            </a:r>
            <a:r>
              <a:rPr sz="1600" b="0" dirty="0" err="1">
                <a:solidFill>
                  <a:srgbClr val="AAB9CD"/>
                </a:solidFill>
                <a:latin typeface="Aptos"/>
              </a:rPr>
              <a:t>анимация</a:t>
            </a:r>
            <a:r>
              <a:rPr sz="1600" b="0" dirty="0">
                <a:solidFill>
                  <a:srgbClr val="AAB9C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AB9CD"/>
                </a:solidFill>
                <a:latin typeface="Aptos"/>
              </a:rPr>
              <a:t>показывает</a:t>
            </a:r>
            <a:r>
              <a:rPr sz="1600" b="0" dirty="0">
                <a:solidFill>
                  <a:srgbClr val="AAB9C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AB9CD"/>
                </a:solidFill>
                <a:latin typeface="Aptos"/>
              </a:rPr>
              <a:t>каждый</a:t>
            </a:r>
            <a:r>
              <a:rPr sz="1600" b="0" dirty="0">
                <a:solidFill>
                  <a:srgbClr val="AAB9C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AB9CD"/>
                </a:solidFill>
                <a:latin typeface="Aptos"/>
              </a:rPr>
              <a:t>шаг</a:t>
            </a:r>
            <a:r>
              <a:rPr sz="1600" b="0" dirty="0">
                <a:solidFill>
                  <a:srgbClr val="AAB9C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AB9CD"/>
                </a:solidFill>
                <a:latin typeface="Aptos"/>
              </a:rPr>
              <a:t>деления</a:t>
            </a:r>
            <a:r>
              <a:rPr sz="1600" b="0" dirty="0">
                <a:solidFill>
                  <a:srgbClr val="AAB9C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AB9CD"/>
                </a:solidFill>
                <a:latin typeface="Aptos"/>
              </a:rPr>
              <a:t>массива</a:t>
            </a:r>
            <a:r>
              <a:rPr sz="1600" b="0" dirty="0">
                <a:solidFill>
                  <a:srgbClr val="AAB9CD"/>
                </a:solidFill>
                <a:latin typeface="Aptos"/>
              </a:rPr>
              <a:t> и </a:t>
            </a:r>
            <a:r>
              <a:rPr sz="1600" b="0" dirty="0" err="1">
                <a:solidFill>
                  <a:srgbClr val="AAB9CD"/>
                </a:solidFill>
                <a:latin typeface="Aptos"/>
              </a:rPr>
              <a:t>обратного</a:t>
            </a:r>
            <a:r>
              <a:rPr sz="1600" b="0" dirty="0">
                <a:solidFill>
                  <a:srgbClr val="AAB9CD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AAB9CD"/>
                </a:solidFill>
                <a:latin typeface="Aptos"/>
              </a:rPr>
              <a:t>слияния</a:t>
            </a:r>
            <a:r>
              <a:rPr sz="1600" b="0" dirty="0">
                <a:solidFill>
                  <a:srgbClr val="AAB9CD"/>
                </a:solidFill>
                <a:latin typeface="Aptos"/>
              </a:rPr>
              <a:t>.</a:t>
            </a:r>
            <a:endParaRPr lang="en-US" sz="1200" dirty="0"/>
          </a:p>
        </p:txBody>
      </p:sp>
      <p:grpSp>
        <p:nvGrpSpPr>
          <p:cNvPr id="55" name="Группа 54">
            <a:extLst>
              <a:ext uri="{FF2B5EF4-FFF2-40B4-BE49-F238E27FC236}">
                <a16:creationId xmlns:a16="http://schemas.microsoft.com/office/drawing/2014/main" id="{81722651-B5FF-4615-AFA1-FCDDFE318392}"/>
              </a:ext>
            </a:extLst>
          </p:cNvPr>
          <p:cNvGrpSpPr/>
          <p:nvPr/>
        </p:nvGrpSpPr>
        <p:grpSpPr>
          <a:xfrm>
            <a:off x="140185" y="117434"/>
            <a:ext cx="420946" cy="374904"/>
            <a:chOff x="140185" y="117434"/>
            <a:chExt cx="420946" cy="374904"/>
          </a:xfrm>
        </p:grpSpPr>
        <p:sp>
          <p:nvSpPr>
            <p:cNvPr id="56" name="Shape 3">
              <a:extLst>
                <a:ext uri="{FF2B5EF4-FFF2-40B4-BE49-F238E27FC236}">
                  <a16:creationId xmlns:a16="http://schemas.microsoft.com/office/drawing/2014/main" id="{B818B90D-4002-4024-AF21-B70905CB8D3A}"/>
                </a:ext>
              </a:extLst>
            </p:cNvPr>
            <p:cNvSpPr/>
            <p:nvPr/>
          </p:nvSpPr>
          <p:spPr>
            <a:xfrm>
              <a:off x="140185" y="117434"/>
              <a:ext cx="420946" cy="374904"/>
            </a:xfrm>
            <a:prstGeom prst="roundRect">
              <a:avLst/>
            </a:prstGeom>
            <a:solidFill>
              <a:srgbClr val="1A320D">
                <a:alpha val="85000"/>
              </a:srgbClr>
            </a:solidFill>
            <a:ln w="12700">
              <a:solidFill>
                <a:srgbClr val="8AE000"/>
              </a:solidFill>
              <a:prstDash val="solid"/>
            </a:ln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57" name="Text 4">
              <a:extLst>
                <a:ext uri="{FF2B5EF4-FFF2-40B4-BE49-F238E27FC236}">
                  <a16:creationId xmlns:a16="http://schemas.microsoft.com/office/drawing/2014/main" id="{23493240-6CEA-4AFE-A701-8831AB14247B}"/>
                </a:ext>
              </a:extLst>
            </p:cNvPr>
            <p:cNvSpPr/>
            <p:nvPr/>
          </p:nvSpPr>
          <p:spPr>
            <a:xfrm>
              <a:off x="185285" y="219870"/>
              <a:ext cx="330743" cy="1426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>
                  <a:solidFill>
                    <a:srgbClr val="8AE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04</a:t>
              </a:r>
              <a:endParaRPr lang="en-US" sz="1200" dirty="0"/>
            </a:p>
          </p:txBody>
        </p:sp>
      </p:grpSp>
      <p:sp>
        <p:nvSpPr>
          <p:cNvPr id="58" name="Text 6">
            <a:extLst>
              <a:ext uri="{FF2B5EF4-FFF2-40B4-BE49-F238E27FC236}">
                <a16:creationId xmlns:a16="http://schemas.microsoft.com/office/drawing/2014/main" id="{E52E72F6-B86C-46A5-B566-7541ABA6D910}"/>
              </a:ext>
            </a:extLst>
          </p:cNvPr>
          <p:cNvSpPr/>
          <p:nvPr/>
        </p:nvSpPr>
        <p:spPr>
          <a:xfrm>
            <a:off x="9751835" y="182880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r">
              <a:buNone/>
            </a:pPr>
            <a:r>
              <a:rPr sz="1050" b="0">
                <a:solidFill>
                  <a:srgbClr val="9FB2C0"/>
                </a:solidFill>
                <a:latin typeface="Arial"/>
              </a:rPr>
              <a:t>PARALLEL SORT</a:t>
            </a:r>
            <a:endParaRPr lang="en-US" sz="1050" dirty="0"/>
          </a:p>
        </p:txBody>
      </p:sp>
      <p:pic>
        <p:nvPicPr>
          <p:cNvPr id="60" name="Picture 59" descr="merge_sort_steps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1664208"/>
            <a:ext cx="8321040" cy="46817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30352" y="347472"/>
            <a:ext cx="11100816" cy="0"/>
          </a:xfrm>
          <a:prstGeom prst="line">
            <a:avLst/>
          </a:prstGeom>
          <a:noFill/>
          <a:ln w="12700">
            <a:solidFill>
              <a:srgbClr val="2636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30352" y="6455664"/>
            <a:ext cx="11100816" cy="0"/>
          </a:xfrm>
          <a:prstGeom prst="line">
            <a:avLst/>
          </a:prstGeom>
          <a:noFill/>
          <a:ln w="12700">
            <a:solidFill>
              <a:srgbClr val="263645">
                <a:alpha val="8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 rot="10800000">
            <a:off x="11146536" y="-1005840"/>
            <a:ext cx="2011680" cy="2011680"/>
          </a:xfrm>
          <a:prstGeom prst="arc">
            <a:avLst/>
          </a:prstGeom>
          <a:solidFill>
            <a:srgbClr val="76B900">
              <a:alpha val="8000"/>
            </a:srgbClr>
          </a:solidFill>
          <a:ln w="12700">
            <a:solidFill>
              <a:srgbClr val="76B900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49808" y="5120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sz="819" b="1">
                <a:solidFill>
                  <a:srgbClr val="7ED10A"/>
                </a:solidFill>
                <a:latin typeface="Arial"/>
              </a:rPr>
              <a:t>АРХИТЕКТУРА АЛГОРИТМА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749808" y="786384"/>
            <a:ext cx="9015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sz="2400" b="1" dirty="0" err="1">
                <a:solidFill>
                  <a:srgbClr val="EAF4FF"/>
                </a:solidFill>
                <a:latin typeface="Arial"/>
              </a:rPr>
              <a:t>Два</a:t>
            </a:r>
            <a:r>
              <a:rPr sz="2400" b="1" dirty="0">
                <a:solidFill>
                  <a:srgbClr val="EAF4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EAF4FF"/>
                </a:solidFill>
                <a:latin typeface="Arial"/>
              </a:rPr>
              <a:t>предохранителя</a:t>
            </a:r>
            <a:r>
              <a:rPr sz="2400" b="1" dirty="0">
                <a:solidFill>
                  <a:srgbClr val="EAF4FF"/>
                </a:solidFill>
                <a:latin typeface="Arial"/>
              </a:rPr>
              <a:t>: threshold и </a:t>
            </a:r>
            <a:r>
              <a:rPr sz="2400" b="1" dirty="0" err="1">
                <a:solidFill>
                  <a:srgbClr val="EAF4FF"/>
                </a:solidFill>
                <a:latin typeface="Arial"/>
              </a:rPr>
              <a:t>max_depth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68096" y="1572769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sz="1200" b="0" dirty="0" err="1">
                <a:solidFill>
                  <a:srgbClr val="9FB2C0"/>
                </a:solidFill>
                <a:latin typeface="Arial"/>
              </a:rPr>
              <a:t>Левая</a:t>
            </a:r>
            <a:r>
              <a:rPr sz="1200" b="0" dirty="0">
                <a:solidFill>
                  <a:srgbClr val="9FB2C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9FB2C0"/>
                </a:solidFill>
                <a:latin typeface="Arial"/>
              </a:rPr>
              <a:t>половина</a:t>
            </a:r>
            <a:r>
              <a:rPr sz="1200" b="0" dirty="0">
                <a:solidFill>
                  <a:srgbClr val="9FB2C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9FB2C0"/>
                </a:solidFill>
                <a:latin typeface="Arial"/>
              </a:rPr>
              <a:t>уходит</a:t>
            </a:r>
            <a:r>
              <a:rPr sz="1200" b="0" dirty="0">
                <a:solidFill>
                  <a:srgbClr val="9FB2C0"/>
                </a:solidFill>
                <a:latin typeface="Arial"/>
              </a:rPr>
              <a:t> в std::async, </a:t>
            </a:r>
            <a:r>
              <a:rPr sz="1200" b="0" dirty="0" err="1">
                <a:solidFill>
                  <a:srgbClr val="9FB2C0"/>
                </a:solidFill>
                <a:latin typeface="Arial"/>
              </a:rPr>
              <a:t>правая</a:t>
            </a:r>
            <a:r>
              <a:rPr sz="1200" b="0" dirty="0">
                <a:solidFill>
                  <a:srgbClr val="9FB2C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9FB2C0"/>
                </a:solidFill>
                <a:latin typeface="Arial"/>
              </a:rPr>
              <a:t>сортируется</a:t>
            </a:r>
            <a:r>
              <a:rPr sz="1200" b="0" dirty="0">
                <a:solidFill>
                  <a:srgbClr val="9FB2C0"/>
                </a:solidFill>
                <a:latin typeface="Arial"/>
              </a:rPr>
              <a:t> в </a:t>
            </a:r>
            <a:r>
              <a:rPr sz="1200" b="0" dirty="0" err="1">
                <a:solidFill>
                  <a:srgbClr val="9FB2C0"/>
                </a:solidFill>
                <a:latin typeface="Arial"/>
              </a:rPr>
              <a:t>текущем</a:t>
            </a:r>
            <a:r>
              <a:rPr sz="1200" b="0" dirty="0">
                <a:solidFill>
                  <a:srgbClr val="9FB2C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9FB2C0"/>
                </a:solidFill>
                <a:latin typeface="Arial"/>
              </a:rPr>
              <a:t>потоке</a:t>
            </a:r>
            <a:r>
              <a:rPr sz="1200" b="0" dirty="0">
                <a:solidFill>
                  <a:srgbClr val="9FB2C0"/>
                </a:solidFill>
                <a:latin typeface="Arial"/>
              </a:rPr>
              <a:t>.</a:t>
            </a:r>
            <a:endParaRPr lang="en-US" sz="1200" dirty="0"/>
          </a:p>
        </p:txBody>
      </p:sp>
      <p:grpSp>
        <p:nvGrpSpPr>
          <p:cNvPr id="55" name="Группа 54">
            <a:extLst>
              <a:ext uri="{FF2B5EF4-FFF2-40B4-BE49-F238E27FC236}">
                <a16:creationId xmlns:a16="http://schemas.microsoft.com/office/drawing/2014/main" id="{81722651-B5FF-4615-AFA1-FCDDFE318392}"/>
              </a:ext>
            </a:extLst>
          </p:cNvPr>
          <p:cNvGrpSpPr/>
          <p:nvPr/>
        </p:nvGrpSpPr>
        <p:grpSpPr>
          <a:xfrm>
            <a:off x="140185" y="117434"/>
            <a:ext cx="420946" cy="374904"/>
            <a:chOff x="140185" y="117434"/>
            <a:chExt cx="420946" cy="374904"/>
          </a:xfrm>
        </p:grpSpPr>
        <p:sp>
          <p:nvSpPr>
            <p:cNvPr id="56" name="Shape 3">
              <a:extLst>
                <a:ext uri="{FF2B5EF4-FFF2-40B4-BE49-F238E27FC236}">
                  <a16:creationId xmlns:a16="http://schemas.microsoft.com/office/drawing/2014/main" id="{B818B90D-4002-4024-AF21-B70905CB8D3A}"/>
                </a:ext>
              </a:extLst>
            </p:cNvPr>
            <p:cNvSpPr/>
            <p:nvPr/>
          </p:nvSpPr>
          <p:spPr>
            <a:xfrm>
              <a:off x="140185" y="117434"/>
              <a:ext cx="420946" cy="374904"/>
            </a:xfrm>
            <a:prstGeom prst="roundRect">
              <a:avLst/>
            </a:prstGeom>
            <a:solidFill>
              <a:srgbClr val="1A320D">
                <a:alpha val="85000"/>
              </a:srgbClr>
            </a:solidFill>
            <a:ln w="12700">
              <a:solidFill>
                <a:srgbClr val="8AE000"/>
              </a:solidFill>
              <a:prstDash val="solid"/>
            </a:ln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57" name="Text 4">
              <a:extLst>
                <a:ext uri="{FF2B5EF4-FFF2-40B4-BE49-F238E27FC236}">
                  <a16:creationId xmlns:a16="http://schemas.microsoft.com/office/drawing/2014/main" id="{23493240-6CEA-4AFE-A701-8831AB14247B}"/>
                </a:ext>
              </a:extLst>
            </p:cNvPr>
            <p:cNvSpPr/>
            <p:nvPr/>
          </p:nvSpPr>
          <p:spPr>
            <a:xfrm>
              <a:off x="185285" y="219870"/>
              <a:ext cx="330743" cy="1426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>
                  <a:solidFill>
                    <a:srgbClr val="8AE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04</a:t>
              </a:r>
              <a:endParaRPr lang="en-US" sz="1200" dirty="0"/>
            </a:p>
          </p:txBody>
        </p:sp>
      </p:grpSp>
      <p:sp>
        <p:nvSpPr>
          <p:cNvPr id="58" name="Text 6">
            <a:extLst>
              <a:ext uri="{FF2B5EF4-FFF2-40B4-BE49-F238E27FC236}">
                <a16:creationId xmlns:a16="http://schemas.microsoft.com/office/drawing/2014/main" id="{E52E72F6-B86C-46A5-B566-7541ABA6D910}"/>
              </a:ext>
            </a:extLst>
          </p:cNvPr>
          <p:cNvSpPr/>
          <p:nvPr/>
        </p:nvSpPr>
        <p:spPr>
          <a:xfrm>
            <a:off x="9751835" y="182880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r">
              <a:buNone/>
            </a:pPr>
            <a:r>
              <a:rPr sz="1050" b="0">
                <a:solidFill>
                  <a:srgbClr val="9FB2C0"/>
                </a:solidFill>
                <a:latin typeface="Arial"/>
              </a:rPr>
              <a:t>PARALLEL SORT</a:t>
            </a:r>
            <a:endParaRPr lang="en-US" sz="1050" dirty="0"/>
          </a:p>
        </p:txBody>
      </p:sp>
      <p:cxnSp>
        <p:nvCxnSpPr>
          <p:cNvPr id="60" name="Connector 59"/>
          <p:cNvCxnSpPr/>
          <p:nvPr/>
        </p:nvCxnSpPr>
        <p:spPr>
          <a:xfrm flipH="1">
            <a:off x="3703320" y="2487168"/>
            <a:ext cx="2377440" cy="758952"/>
          </a:xfrm>
          <a:prstGeom prst="line">
            <a:avLst/>
          </a:prstGeom>
          <a:ln w="25400">
            <a:solidFill>
              <a:srgbClr val="1C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080760" y="2487168"/>
            <a:ext cx="2377440" cy="758952"/>
          </a:xfrm>
          <a:prstGeom prst="line">
            <a:avLst/>
          </a:prstGeom>
          <a:ln w="25400">
            <a:solidFill>
              <a:srgbClr val="1C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2057400" y="3703320"/>
            <a:ext cx="1645920" cy="822960"/>
          </a:xfrm>
          <a:prstGeom prst="line">
            <a:avLst/>
          </a:prstGeom>
          <a:ln w="25400">
            <a:solidFill>
              <a:srgbClr val="1C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3703320" y="3703320"/>
            <a:ext cx="1645920" cy="822960"/>
          </a:xfrm>
          <a:prstGeom prst="line">
            <a:avLst/>
          </a:prstGeom>
          <a:ln w="25400">
            <a:solidFill>
              <a:srgbClr val="1C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6812280" y="3703320"/>
            <a:ext cx="1645920" cy="822960"/>
          </a:xfrm>
          <a:prstGeom prst="line">
            <a:avLst/>
          </a:prstGeom>
          <a:ln w="25400">
            <a:solidFill>
              <a:srgbClr val="1C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458200" y="3703320"/>
            <a:ext cx="1645920" cy="822960"/>
          </a:xfrm>
          <a:prstGeom prst="line">
            <a:avLst/>
          </a:prstGeom>
          <a:ln w="25400">
            <a:solidFill>
              <a:srgbClr val="1C33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4983480" y="2011680"/>
            <a:ext cx="2194560" cy="68580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7ED1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87500" lnSpcReduction="10000"/>
          </a:bodyPr>
          <a:lstStyle/>
          <a:p>
            <a:pPr algn="l"/>
            <a:r>
              <a:rPr sz="1400" b="1" dirty="0">
                <a:solidFill>
                  <a:srgbClr val="7ED10A"/>
                </a:solidFill>
                <a:latin typeface="Arial"/>
              </a:rPr>
              <a:t>N </a:t>
            </a:r>
            <a:r>
              <a:rPr sz="1400" b="1" dirty="0" err="1">
                <a:solidFill>
                  <a:srgbClr val="7ED10A"/>
                </a:solidFill>
                <a:latin typeface="Arial"/>
              </a:rPr>
              <a:t>элементов</a:t>
            </a:r>
            <a:br>
              <a:rPr lang="ru-RU" sz="1400" b="1" dirty="0">
                <a:solidFill>
                  <a:srgbClr val="7ED10A"/>
                </a:solidFill>
                <a:latin typeface="Arial"/>
              </a:rPr>
            </a:br>
            <a:endParaRPr sz="1400" b="1" dirty="0">
              <a:solidFill>
                <a:srgbClr val="7ED10A"/>
              </a:solidFill>
              <a:latin typeface="Arial"/>
            </a:endParaRPr>
          </a:p>
          <a:p>
            <a:pPr algn="l"/>
            <a:r>
              <a:rPr sz="1200" b="0" dirty="0">
                <a:solidFill>
                  <a:srgbClr val="EAF4FF"/>
                </a:solidFill>
                <a:latin typeface="Arial"/>
              </a:rPr>
              <a:t>root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606040" y="3154680"/>
            <a:ext cx="2194560" cy="68580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87500" lnSpcReduction="10000"/>
          </a:bodyPr>
          <a:lstStyle/>
          <a:p>
            <a:pPr algn="l"/>
            <a:r>
              <a:rPr sz="1400" b="1" dirty="0">
                <a:solidFill>
                  <a:srgbClr val="46D9FF"/>
                </a:solidFill>
                <a:latin typeface="Arial"/>
              </a:rPr>
              <a:t>N / 2</a:t>
            </a:r>
            <a:br>
              <a:rPr lang="ru-RU" sz="1400" b="1" dirty="0">
                <a:solidFill>
                  <a:srgbClr val="46D9FF"/>
                </a:solidFill>
                <a:latin typeface="Arial"/>
              </a:rPr>
            </a:br>
            <a:endParaRPr sz="1400" b="1" dirty="0">
              <a:solidFill>
                <a:srgbClr val="46D9FF"/>
              </a:solidFill>
              <a:latin typeface="Arial"/>
            </a:endParaRPr>
          </a:p>
          <a:p>
            <a:pPr algn="l"/>
            <a:r>
              <a:rPr sz="1200" b="0" dirty="0">
                <a:solidFill>
                  <a:srgbClr val="EAF4FF"/>
                </a:solidFill>
                <a:latin typeface="Arial"/>
              </a:rPr>
              <a:t>std::async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360920" y="3154680"/>
            <a:ext cx="2194560" cy="68580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87500" lnSpcReduction="10000"/>
          </a:bodyPr>
          <a:lstStyle/>
          <a:p>
            <a:pPr algn="l"/>
            <a:r>
              <a:rPr sz="1400" b="1" dirty="0">
                <a:solidFill>
                  <a:srgbClr val="46D9FF"/>
                </a:solidFill>
                <a:latin typeface="Arial"/>
              </a:rPr>
              <a:t>N / 2</a:t>
            </a:r>
            <a:br>
              <a:rPr lang="ru-RU" sz="1400" b="1" dirty="0">
                <a:solidFill>
                  <a:srgbClr val="46D9FF"/>
                </a:solidFill>
                <a:latin typeface="Arial"/>
              </a:rPr>
            </a:br>
            <a:endParaRPr sz="1400" b="1" dirty="0">
              <a:solidFill>
                <a:srgbClr val="46D9FF"/>
              </a:solidFill>
              <a:latin typeface="Arial"/>
            </a:endParaRPr>
          </a:p>
          <a:p>
            <a:pPr algn="l"/>
            <a:r>
              <a:rPr sz="1200" b="0" dirty="0" err="1">
                <a:solidFill>
                  <a:srgbClr val="EAF4FF"/>
                </a:solidFill>
                <a:latin typeface="Arial"/>
              </a:rPr>
              <a:t>текущий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поток</a:t>
            </a:r>
            <a:endParaRPr sz="1200" b="0" dirty="0">
              <a:solidFill>
                <a:srgbClr val="EAF4FF"/>
              </a:solidFill>
              <a:latin typeface="Arial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1143000" y="4389120"/>
            <a:ext cx="1325880" cy="68580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FFD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300" b="1">
                <a:solidFill>
                  <a:srgbClr val="FFD24D"/>
                </a:solidFill>
                <a:latin typeface="Arial"/>
              </a:rPr>
              <a:t>threshold?</a:t>
            </a:r>
          </a:p>
          <a:p>
            <a:pPr algn="l"/>
            <a:r>
              <a:rPr sz="1100" b="0">
                <a:solidFill>
                  <a:srgbClr val="EAF4FF"/>
                </a:solidFill>
                <a:latin typeface="Arial"/>
              </a:rPr>
              <a:t>std::sort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434840" y="4389120"/>
            <a:ext cx="1325880" cy="68580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FFD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300" b="1" dirty="0">
                <a:solidFill>
                  <a:srgbClr val="FFD24D"/>
                </a:solidFill>
                <a:latin typeface="Arial"/>
              </a:rPr>
              <a:t>depth?</a:t>
            </a:r>
            <a:br>
              <a:rPr lang="ru-RU" sz="1300" b="1" dirty="0">
                <a:solidFill>
                  <a:srgbClr val="FFD24D"/>
                </a:solidFill>
                <a:latin typeface="Arial"/>
              </a:rPr>
            </a:br>
            <a:endParaRPr sz="1300" b="1" dirty="0">
              <a:solidFill>
                <a:srgbClr val="FFD24D"/>
              </a:solidFill>
              <a:latin typeface="Arial"/>
            </a:endParaRPr>
          </a:p>
          <a:p>
            <a:pPr algn="l"/>
            <a:r>
              <a:rPr sz="1100" b="0" dirty="0">
                <a:solidFill>
                  <a:srgbClr val="EAF4FF"/>
                </a:solidFill>
                <a:latin typeface="Arial"/>
              </a:rPr>
              <a:t>fallback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897880" y="4389120"/>
            <a:ext cx="1325880" cy="68580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FFD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300" b="1" dirty="0">
                <a:solidFill>
                  <a:srgbClr val="FFD24D"/>
                </a:solidFill>
                <a:latin typeface="Arial"/>
              </a:rPr>
              <a:t>threshold?</a:t>
            </a:r>
            <a:br>
              <a:rPr lang="ru-RU" sz="1300" b="1" dirty="0">
                <a:solidFill>
                  <a:srgbClr val="FFD24D"/>
                </a:solidFill>
                <a:latin typeface="Arial"/>
              </a:rPr>
            </a:br>
            <a:endParaRPr sz="1300" b="1" dirty="0">
              <a:solidFill>
                <a:srgbClr val="FFD24D"/>
              </a:solidFill>
              <a:latin typeface="Arial"/>
            </a:endParaRPr>
          </a:p>
          <a:p>
            <a:pPr algn="l"/>
            <a:r>
              <a:rPr sz="1100" b="0" dirty="0">
                <a:solidFill>
                  <a:srgbClr val="EAF4FF"/>
                </a:solidFill>
                <a:latin typeface="Arial"/>
              </a:rPr>
              <a:t>std::sort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189720" y="4389120"/>
            <a:ext cx="1325880" cy="68580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FFD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300" b="1" dirty="0">
                <a:solidFill>
                  <a:srgbClr val="FFD24D"/>
                </a:solidFill>
                <a:latin typeface="Arial"/>
              </a:rPr>
              <a:t>depth?</a:t>
            </a:r>
            <a:br>
              <a:rPr lang="ru-RU" sz="1300" b="1" dirty="0">
                <a:solidFill>
                  <a:srgbClr val="FFD24D"/>
                </a:solidFill>
                <a:latin typeface="Arial"/>
              </a:rPr>
            </a:br>
            <a:endParaRPr sz="1300" b="1" dirty="0">
              <a:solidFill>
                <a:srgbClr val="FFD24D"/>
              </a:solidFill>
              <a:latin typeface="Arial"/>
            </a:endParaRPr>
          </a:p>
          <a:p>
            <a:pPr algn="l"/>
            <a:r>
              <a:rPr sz="1100" b="0" dirty="0">
                <a:solidFill>
                  <a:srgbClr val="EAF4FF"/>
                </a:solidFill>
                <a:latin typeface="Arial"/>
              </a:rPr>
              <a:t>fallback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85800" y="5486400"/>
            <a:ext cx="4754880" cy="68580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7ED1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 lnSpcReduction="10000"/>
          </a:bodyPr>
          <a:lstStyle/>
          <a:p>
            <a:pPr algn="l"/>
            <a:r>
              <a:rPr sz="1300" b="1" dirty="0" err="1">
                <a:solidFill>
                  <a:srgbClr val="7ED10A"/>
                </a:solidFill>
                <a:latin typeface="Arial"/>
              </a:rPr>
              <a:t>Предохранитель</a:t>
            </a:r>
            <a:r>
              <a:rPr sz="1300" b="1" dirty="0">
                <a:solidFill>
                  <a:srgbClr val="7ED10A"/>
                </a:solidFill>
                <a:latin typeface="Arial"/>
              </a:rPr>
              <a:t> #1</a:t>
            </a:r>
            <a:br>
              <a:rPr lang="ru-RU" sz="1300" b="1" dirty="0">
                <a:solidFill>
                  <a:srgbClr val="7ED10A"/>
                </a:solidFill>
                <a:latin typeface="Arial"/>
              </a:rPr>
            </a:br>
            <a:endParaRPr sz="1300" b="1" dirty="0">
              <a:solidFill>
                <a:srgbClr val="7ED10A"/>
              </a:solidFill>
              <a:latin typeface="Arial"/>
            </a:endParaRPr>
          </a:p>
          <a:p>
            <a:pPr algn="l"/>
            <a:r>
              <a:rPr sz="1150" b="0" dirty="0">
                <a:solidFill>
                  <a:srgbClr val="EAF4FF"/>
                </a:solidFill>
                <a:latin typeface="Arial"/>
              </a:rPr>
              <a:t>size ≤ 16384 → std::sort; </a:t>
            </a:r>
            <a:r>
              <a:rPr sz="1150" b="0" dirty="0" err="1">
                <a:solidFill>
                  <a:srgbClr val="EAF4FF"/>
                </a:solidFill>
                <a:latin typeface="Arial"/>
              </a:rPr>
              <a:t>не</a:t>
            </a:r>
            <a:r>
              <a:rPr sz="115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EAF4FF"/>
                </a:solidFill>
                <a:latin typeface="Arial"/>
              </a:rPr>
              <a:t>создаём</a:t>
            </a:r>
            <a:r>
              <a:rPr sz="115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EAF4FF"/>
                </a:solidFill>
                <a:latin typeface="Arial"/>
              </a:rPr>
              <a:t>потоки</a:t>
            </a:r>
            <a:r>
              <a:rPr sz="115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EAF4FF"/>
                </a:solidFill>
                <a:latin typeface="Arial"/>
              </a:rPr>
              <a:t>для</a:t>
            </a:r>
            <a:r>
              <a:rPr sz="115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EAF4FF"/>
                </a:solidFill>
                <a:latin typeface="Arial"/>
              </a:rPr>
              <a:t>маленьких</a:t>
            </a:r>
            <a:r>
              <a:rPr sz="115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EAF4FF"/>
                </a:solidFill>
                <a:latin typeface="Arial"/>
              </a:rPr>
              <a:t>задач</a:t>
            </a:r>
            <a:r>
              <a:rPr sz="1150" b="0" dirty="0">
                <a:solidFill>
                  <a:srgbClr val="EAF4FF"/>
                </a:solidFill>
                <a:latin typeface="Arial"/>
              </a:rPr>
              <a:t>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492240" y="5486400"/>
            <a:ext cx="4754880" cy="68580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 lnSpcReduction="10000"/>
          </a:bodyPr>
          <a:lstStyle/>
          <a:p>
            <a:pPr algn="l"/>
            <a:r>
              <a:rPr sz="1300" b="1" dirty="0" err="1">
                <a:solidFill>
                  <a:srgbClr val="46D9FF"/>
                </a:solidFill>
                <a:latin typeface="Arial"/>
              </a:rPr>
              <a:t>Предохранитель</a:t>
            </a:r>
            <a:r>
              <a:rPr sz="1300" b="1" dirty="0">
                <a:solidFill>
                  <a:srgbClr val="46D9FF"/>
                </a:solidFill>
                <a:latin typeface="Arial"/>
              </a:rPr>
              <a:t> #2</a:t>
            </a:r>
            <a:br>
              <a:rPr lang="ru-RU" sz="1300" b="1" dirty="0">
                <a:solidFill>
                  <a:srgbClr val="46D9FF"/>
                </a:solidFill>
                <a:latin typeface="Arial"/>
              </a:rPr>
            </a:br>
            <a:endParaRPr sz="1300" b="1" dirty="0">
              <a:solidFill>
                <a:srgbClr val="46D9FF"/>
              </a:solidFill>
              <a:latin typeface="Arial"/>
            </a:endParaRPr>
          </a:p>
          <a:p>
            <a:pPr algn="l"/>
            <a:r>
              <a:rPr sz="1150" b="0" dirty="0" err="1">
                <a:solidFill>
                  <a:srgbClr val="EAF4FF"/>
                </a:solidFill>
                <a:latin typeface="Arial"/>
              </a:rPr>
              <a:t>max_depth</a:t>
            </a:r>
            <a:r>
              <a:rPr sz="1150" b="0" dirty="0">
                <a:solidFill>
                  <a:srgbClr val="EAF4FF"/>
                </a:solidFill>
                <a:latin typeface="Arial"/>
              </a:rPr>
              <a:t> = log₂(logical cores); </a:t>
            </a:r>
            <a:r>
              <a:rPr sz="1150" b="0" dirty="0" err="1">
                <a:solidFill>
                  <a:srgbClr val="EAF4FF"/>
                </a:solidFill>
                <a:latin typeface="Arial"/>
              </a:rPr>
              <a:t>для</a:t>
            </a:r>
            <a:r>
              <a:rPr sz="1150" b="0" dirty="0">
                <a:solidFill>
                  <a:srgbClr val="EAF4FF"/>
                </a:solidFill>
                <a:latin typeface="Arial"/>
              </a:rPr>
              <a:t> 8 </a:t>
            </a:r>
            <a:r>
              <a:rPr sz="1150" b="0" dirty="0" err="1">
                <a:solidFill>
                  <a:srgbClr val="EAF4FF"/>
                </a:solidFill>
                <a:latin typeface="Arial"/>
              </a:rPr>
              <a:t>ядер</a:t>
            </a:r>
            <a:r>
              <a:rPr sz="1150" b="0" dirty="0">
                <a:solidFill>
                  <a:srgbClr val="EAF4FF"/>
                </a:solidFill>
                <a:latin typeface="Arial"/>
              </a:rPr>
              <a:t> depth = 3.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Рисунок 93">
            <a:extLst>
              <a:ext uri="{FF2B5EF4-FFF2-40B4-BE49-F238E27FC236}">
                <a16:creationId xmlns:a16="http://schemas.microsoft.com/office/drawing/2014/main" id="{EF8E15C7-3491-4BCC-91C4-C86293AFC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30352" y="347472"/>
            <a:ext cx="11100816" cy="0"/>
          </a:xfrm>
          <a:prstGeom prst="line">
            <a:avLst/>
          </a:prstGeom>
          <a:noFill/>
          <a:ln w="12700">
            <a:solidFill>
              <a:srgbClr val="2636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30352" y="6455664"/>
            <a:ext cx="11100816" cy="0"/>
          </a:xfrm>
          <a:prstGeom prst="line">
            <a:avLst/>
          </a:prstGeom>
          <a:noFill/>
          <a:ln w="12700">
            <a:solidFill>
              <a:srgbClr val="263645">
                <a:alpha val="8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 rot="10800000">
            <a:off x="11210544" y="-1005840"/>
            <a:ext cx="2011680" cy="2011680"/>
          </a:xfrm>
          <a:prstGeom prst="arc">
            <a:avLst/>
          </a:prstGeom>
          <a:solidFill>
            <a:srgbClr val="76B900">
              <a:alpha val="8000"/>
            </a:srgbClr>
          </a:solidFill>
          <a:ln w="12700">
            <a:solidFill>
              <a:srgbClr val="76B900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49808" y="5120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sz="819" b="1">
                <a:solidFill>
                  <a:srgbClr val="7ED10A"/>
                </a:solidFill>
                <a:latin typeface="Arial"/>
              </a:rPr>
              <a:t>МАГИЯ THRESHOLD = 16384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749808" y="786384"/>
            <a:ext cx="9015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sz="2400" b="1" dirty="0">
                <a:solidFill>
                  <a:srgbClr val="EAF4FF"/>
                </a:solidFill>
                <a:latin typeface="Arial"/>
              </a:rPr>
              <a:t>64 КБ </a:t>
            </a:r>
            <a:r>
              <a:rPr sz="2400" b="1" dirty="0" err="1">
                <a:solidFill>
                  <a:srgbClr val="EAF4FF"/>
                </a:solidFill>
                <a:latin typeface="Arial"/>
              </a:rPr>
              <a:t>на</a:t>
            </a:r>
            <a:r>
              <a:rPr sz="2400" b="1" dirty="0">
                <a:solidFill>
                  <a:srgbClr val="EAF4FF"/>
                </a:solidFill>
                <a:latin typeface="Arial"/>
              </a:rPr>
              <a:t> int: </a:t>
            </a:r>
            <a:r>
              <a:rPr sz="2400" b="1" dirty="0" err="1">
                <a:solidFill>
                  <a:srgbClr val="EAF4FF"/>
                </a:solidFill>
                <a:latin typeface="Arial"/>
              </a:rPr>
              <a:t>кэш</a:t>
            </a:r>
            <a:r>
              <a:rPr sz="2400" b="1" dirty="0">
                <a:solidFill>
                  <a:srgbClr val="EAF4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EAF4FF"/>
                </a:solidFill>
                <a:latin typeface="Arial"/>
              </a:rPr>
              <a:t>вместо</a:t>
            </a:r>
            <a:r>
              <a:rPr sz="2400" b="1" dirty="0">
                <a:solidFill>
                  <a:srgbClr val="EAF4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EAF4FF"/>
                </a:solidFill>
                <a:latin typeface="Arial"/>
              </a:rPr>
              <a:t>лишнего</a:t>
            </a:r>
            <a:r>
              <a:rPr sz="2400" b="1" dirty="0">
                <a:solidFill>
                  <a:srgbClr val="EAF4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EAF4FF"/>
                </a:solidFill>
                <a:latin typeface="Arial"/>
              </a:rPr>
              <a:t>потока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68096" y="144475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sz="1200" b="0" dirty="0" err="1">
                <a:solidFill>
                  <a:srgbClr val="9FB2C0"/>
                </a:solidFill>
                <a:latin typeface="Arial"/>
              </a:rPr>
              <a:t>Маленькие</a:t>
            </a:r>
            <a:r>
              <a:rPr sz="1200" b="0" dirty="0">
                <a:solidFill>
                  <a:srgbClr val="9FB2C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9FB2C0"/>
                </a:solidFill>
                <a:latin typeface="Arial"/>
              </a:rPr>
              <a:t>задачи</a:t>
            </a:r>
            <a:r>
              <a:rPr sz="1200" b="0" dirty="0">
                <a:solidFill>
                  <a:srgbClr val="9FB2C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9FB2C0"/>
                </a:solidFill>
                <a:latin typeface="Arial"/>
              </a:rPr>
              <a:t>остаются</a:t>
            </a:r>
            <a:r>
              <a:rPr sz="1200" b="0" dirty="0">
                <a:solidFill>
                  <a:srgbClr val="9FB2C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9FB2C0"/>
                </a:solidFill>
                <a:latin typeface="Arial"/>
              </a:rPr>
              <a:t>на</a:t>
            </a:r>
            <a:r>
              <a:rPr sz="1200" b="0" dirty="0">
                <a:solidFill>
                  <a:srgbClr val="9FB2C0"/>
                </a:solidFill>
                <a:latin typeface="Arial"/>
              </a:rPr>
              <a:t> std::sort, </a:t>
            </a:r>
            <a:r>
              <a:rPr sz="1200" b="0" dirty="0" err="1">
                <a:solidFill>
                  <a:srgbClr val="9FB2C0"/>
                </a:solidFill>
                <a:latin typeface="Arial"/>
              </a:rPr>
              <a:t>крупные</a:t>
            </a:r>
            <a:r>
              <a:rPr sz="1200" b="0" dirty="0">
                <a:solidFill>
                  <a:srgbClr val="9FB2C0"/>
                </a:solidFill>
                <a:latin typeface="Arial"/>
              </a:rPr>
              <a:t> — </a:t>
            </a:r>
            <a:r>
              <a:rPr sz="1200" b="0" dirty="0" err="1">
                <a:solidFill>
                  <a:srgbClr val="9FB2C0"/>
                </a:solidFill>
                <a:latin typeface="Arial"/>
              </a:rPr>
              <a:t>распараллеливаются</a:t>
            </a:r>
            <a:r>
              <a:rPr sz="1200" b="0" dirty="0">
                <a:solidFill>
                  <a:srgbClr val="9FB2C0"/>
                </a:solidFill>
                <a:latin typeface="Arial"/>
              </a:rPr>
              <a:t>.</a:t>
            </a:r>
            <a:endParaRPr lang="en-US" sz="1200" dirty="0"/>
          </a:p>
        </p:txBody>
      </p:sp>
      <p:grpSp>
        <p:nvGrpSpPr>
          <p:cNvPr id="51" name="Группа 50">
            <a:extLst>
              <a:ext uri="{FF2B5EF4-FFF2-40B4-BE49-F238E27FC236}">
                <a16:creationId xmlns:a16="http://schemas.microsoft.com/office/drawing/2014/main" id="{8F05FDFA-E3CF-4FA0-970E-52ADB0FC7B81}"/>
              </a:ext>
            </a:extLst>
          </p:cNvPr>
          <p:cNvGrpSpPr/>
          <p:nvPr/>
        </p:nvGrpSpPr>
        <p:grpSpPr>
          <a:xfrm>
            <a:off x="140185" y="117434"/>
            <a:ext cx="420946" cy="374904"/>
            <a:chOff x="140185" y="117434"/>
            <a:chExt cx="420946" cy="374904"/>
          </a:xfrm>
        </p:grpSpPr>
        <p:sp>
          <p:nvSpPr>
            <p:cNvPr id="52" name="Shape 3">
              <a:extLst>
                <a:ext uri="{FF2B5EF4-FFF2-40B4-BE49-F238E27FC236}">
                  <a16:creationId xmlns:a16="http://schemas.microsoft.com/office/drawing/2014/main" id="{16595597-9F28-468E-8A6A-176BFAE04361}"/>
                </a:ext>
              </a:extLst>
            </p:cNvPr>
            <p:cNvSpPr/>
            <p:nvPr/>
          </p:nvSpPr>
          <p:spPr>
            <a:xfrm>
              <a:off x="140185" y="117434"/>
              <a:ext cx="420946" cy="374904"/>
            </a:xfrm>
            <a:prstGeom prst="roundRect">
              <a:avLst/>
            </a:prstGeom>
            <a:solidFill>
              <a:srgbClr val="1A320D">
                <a:alpha val="85000"/>
              </a:srgbClr>
            </a:solidFill>
            <a:ln w="12700">
              <a:solidFill>
                <a:srgbClr val="8AE000"/>
              </a:solidFill>
              <a:prstDash val="solid"/>
            </a:ln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53" name="Text 4">
              <a:extLst>
                <a:ext uri="{FF2B5EF4-FFF2-40B4-BE49-F238E27FC236}">
                  <a16:creationId xmlns:a16="http://schemas.microsoft.com/office/drawing/2014/main" id="{A600069B-3E74-45C4-B123-FE15DE1F2AE4}"/>
                </a:ext>
              </a:extLst>
            </p:cNvPr>
            <p:cNvSpPr/>
            <p:nvPr/>
          </p:nvSpPr>
          <p:spPr>
            <a:xfrm>
              <a:off x="185285" y="219870"/>
              <a:ext cx="330743" cy="1426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>
                  <a:solidFill>
                    <a:srgbClr val="8AE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05</a:t>
              </a:r>
              <a:endParaRPr lang="en-US" sz="1200" dirty="0"/>
            </a:p>
          </p:txBody>
        </p:sp>
      </p:grpSp>
      <p:sp>
        <p:nvSpPr>
          <p:cNvPr id="54" name="Text 6">
            <a:extLst>
              <a:ext uri="{FF2B5EF4-FFF2-40B4-BE49-F238E27FC236}">
                <a16:creationId xmlns:a16="http://schemas.microsoft.com/office/drawing/2014/main" id="{38202325-1A06-42F4-96E8-296BFDE8515C}"/>
              </a:ext>
            </a:extLst>
          </p:cNvPr>
          <p:cNvSpPr/>
          <p:nvPr/>
        </p:nvSpPr>
        <p:spPr>
          <a:xfrm>
            <a:off x="9751835" y="182880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r">
              <a:buNone/>
            </a:pPr>
            <a:r>
              <a:rPr sz="1050" b="0">
                <a:solidFill>
                  <a:srgbClr val="9FB2C0"/>
                </a:solidFill>
                <a:latin typeface="Arial"/>
              </a:rPr>
              <a:t>PARALLEL SORT</a:t>
            </a:r>
            <a:endParaRPr lang="en-US" sz="1050" dirty="0"/>
          </a:p>
        </p:txBody>
      </p:sp>
      <p:sp>
        <p:nvSpPr>
          <p:cNvPr id="95" name="Rounded Rectangle 94"/>
          <p:cNvSpPr/>
          <p:nvPr/>
        </p:nvSpPr>
        <p:spPr>
          <a:xfrm>
            <a:off x="731520" y="2148840"/>
            <a:ext cx="1645920" cy="100584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7ED1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5000"/>
          </a:bodyPr>
          <a:lstStyle/>
          <a:p>
            <a:pPr algn="ctr"/>
            <a:r>
              <a:rPr sz="1500" b="1" dirty="0">
                <a:solidFill>
                  <a:srgbClr val="7ED10A"/>
                </a:solidFill>
                <a:latin typeface="Arial"/>
              </a:rPr>
              <a:t>16384</a:t>
            </a:r>
          </a:p>
          <a:p>
            <a:pPr algn="ctr"/>
            <a:r>
              <a:rPr sz="1050" b="0" dirty="0" err="1">
                <a:solidFill>
                  <a:srgbClr val="EAF4FF"/>
                </a:solidFill>
                <a:latin typeface="Arial"/>
              </a:rPr>
              <a:t>элементов</a:t>
            </a:r>
            <a:endParaRPr sz="1050" b="0" dirty="0">
              <a:solidFill>
                <a:srgbClr val="EAF4FF"/>
              </a:solidFill>
              <a:latin typeface="Arial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2743200" y="2148840"/>
            <a:ext cx="1645920" cy="100584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7ED1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5000"/>
          </a:bodyPr>
          <a:lstStyle/>
          <a:p>
            <a:pPr algn="ctr"/>
            <a:r>
              <a:rPr sz="1500" b="1" dirty="0">
                <a:solidFill>
                  <a:srgbClr val="7ED10A"/>
                </a:solidFill>
                <a:latin typeface="Arial"/>
              </a:rPr>
              <a:t>64 КБ</a:t>
            </a:r>
          </a:p>
          <a:p>
            <a:pPr algn="ctr"/>
            <a:r>
              <a:rPr sz="1100" b="0" dirty="0" err="1">
                <a:solidFill>
                  <a:srgbClr val="EAF4FF"/>
                </a:solidFill>
                <a:latin typeface="Arial"/>
              </a:rPr>
              <a:t>рабочий</a:t>
            </a:r>
            <a:r>
              <a:rPr sz="11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EAF4FF"/>
                </a:solidFill>
                <a:latin typeface="Arial"/>
              </a:rPr>
              <a:t>кусок</a:t>
            </a:r>
            <a:endParaRPr sz="1100" b="0" dirty="0">
              <a:solidFill>
                <a:srgbClr val="EAF4FF"/>
              </a:solidFill>
              <a:latin typeface="Arial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4754880" y="2148840"/>
            <a:ext cx="1645920" cy="100584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5000"/>
          </a:bodyPr>
          <a:lstStyle/>
          <a:p>
            <a:pPr algn="ctr"/>
            <a:r>
              <a:rPr sz="1400" b="1" dirty="0">
                <a:solidFill>
                  <a:srgbClr val="FF4D6D"/>
                </a:solidFill>
                <a:latin typeface="Arial"/>
              </a:rPr>
              <a:t>10–50 </a:t>
            </a:r>
            <a:r>
              <a:rPr sz="1400" b="1" dirty="0" err="1">
                <a:solidFill>
                  <a:srgbClr val="FF4D6D"/>
                </a:solidFill>
                <a:latin typeface="Arial"/>
              </a:rPr>
              <a:t>мкс</a:t>
            </a:r>
            <a:endParaRPr sz="1400" b="1" dirty="0">
              <a:solidFill>
                <a:srgbClr val="FF4D6D"/>
              </a:solidFill>
              <a:latin typeface="Arial"/>
            </a:endParaRPr>
          </a:p>
          <a:p>
            <a:pPr algn="ctr"/>
            <a:r>
              <a:rPr sz="1100" b="0" dirty="0" err="1">
                <a:solidFill>
                  <a:srgbClr val="EAF4FF"/>
                </a:solidFill>
                <a:latin typeface="Arial"/>
              </a:rPr>
              <a:t>цена</a:t>
            </a:r>
            <a:r>
              <a:rPr sz="11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EAF4FF"/>
                </a:solidFill>
                <a:latin typeface="Arial"/>
              </a:rPr>
              <a:t>потока</a:t>
            </a:r>
            <a:endParaRPr sz="1100" b="0" dirty="0">
              <a:solidFill>
                <a:srgbClr val="EAF4FF"/>
              </a:solidFill>
              <a:latin typeface="Arial"/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6766560" y="2148840"/>
            <a:ext cx="1645920" cy="100584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5000"/>
          </a:bodyPr>
          <a:lstStyle/>
          <a:p>
            <a:pPr algn="ctr"/>
            <a:r>
              <a:rPr sz="1400" b="1" dirty="0">
                <a:solidFill>
                  <a:srgbClr val="46D9FF"/>
                </a:solidFill>
                <a:latin typeface="Arial"/>
              </a:rPr>
              <a:t>3–5 </a:t>
            </a:r>
            <a:r>
              <a:rPr sz="1400" b="1" dirty="0" err="1">
                <a:solidFill>
                  <a:srgbClr val="46D9FF"/>
                </a:solidFill>
                <a:latin typeface="Arial"/>
              </a:rPr>
              <a:t>мкс</a:t>
            </a:r>
            <a:endParaRPr sz="1400" b="1" dirty="0">
              <a:solidFill>
                <a:srgbClr val="46D9FF"/>
              </a:solidFill>
              <a:latin typeface="Arial"/>
            </a:endParaRPr>
          </a:p>
          <a:p>
            <a:pPr algn="ctr"/>
            <a:r>
              <a:rPr sz="1100" b="0" dirty="0">
                <a:solidFill>
                  <a:srgbClr val="EAF4FF"/>
                </a:solidFill>
                <a:latin typeface="Arial"/>
              </a:rPr>
              <a:t>1000 int sort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778240" y="2148840"/>
            <a:ext cx="1828800" cy="100584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FFD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5000"/>
          </a:bodyPr>
          <a:lstStyle/>
          <a:p>
            <a:pPr algn="ctr"/>
            <a:r>
              <a:rPr sz="1400" b="1" dirty="0">
                <a:solidFill>
                  <a:srgbClr val="FFD24D"/>
                </a:solidFill>
                <a:latin typeface="Arial"/>
              </a:rPr>
              <a:t>0 OOM</a:t>
            </a:r>
          </a:p>
          <a:p>
            <a:pPr algn="ctr"/>
            <a:r>
              <a:rPr sz="1100" b="0" dirty="0" err="1">
                <a:solidFill>
                  <a:srgbClr val="EAF4FF"/>
                </a:solidFill>
                <a:latin typeface="Arial"/>
              </a:rPr>
              <a:t>без</a:t>
            </a:r>
            <a:r>
              <a:rPr sz="11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EAF4FF"/>
                </a:solidFill>
                <a:latin typeface="Arial"/>
              </a:rPr>
              <a:t>лавины</a:t>
            </a:r>
            <a:r>
              <a:rPr sz="11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EAF4FF"/>
                </a:solidFill>
                <a:latin typeface="Arial"/>
              </a:rPr>
              <a:t>потоков</a:t>
            </a:r>
            <a:endParaRPr sz="1100" b="0" dirty="0">
              <a:solidFill>
                <a:srgbClr val="EAF4FF"/>
              </a:solidFill>
              <a:latin typeface="Arial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731520" y="3749039"/>
            <a:ext cx="4846320" cy="123444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7ED1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500" b="1" dirty="0" err="1">
                <a:solidFill>
                  <a:srgbClr val="7ED10A"/>
                </a:solidFill>
                <a:latin typeface="Arial"/>
              </a:rPr>
              <a:t>Почему</a:t>
            </a:r>
            <a:r>
              <a:rPr sz="1500" b="1" dirty="0">
                <a:solidFill>
                  <a:srgbClr val="7ED10A"/>
                </a:solidFill>
                <a:latin typeface="Arial"/>
              </a:rPr>
              <a:t> 16384?</a:t>
            </a:r>
            <a:br>
              <a:rPr lang="ru-RU" sz="1500" b="1" dirty="0">
                <a:solidFill>
                  <a:srgbClr val="7ED10A"/>
                </a:solidFill>
                <a:latin typeface="Arial"/>
              </a:rPr>
            </a:br>
            <a:endParaRPr sz="1500" b="1" dirty="0">
              <a:solidFill>
                <a:srgbClr val="7ED10A"/>
              </a:solidFill>
              <a:latin typeface="Arial"/>
            </a:endParaRPr>
          </a:p>
          <a:p>
            <a:pPr algn="l"/>
            <a:r>
              <a:rPr sz="1300" b="0" dirty="0">
                <a:solidFill>
                  <a:srgbClr val="EAF4FF"/>
                </a:solidFill>
                <a:latin typeface="Arial"/>
              </a:rPr>
              <a:t>16384 × 4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байта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= 64 КБ.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Это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удобно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для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кэша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: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данные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близко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к L2, а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поток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не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создаётся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ради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микрозадачи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943600" y="3749039"/>
            <a:ext cx="4846320" cy="123444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500" b="1" dirty="0" err="1">
                <a:solidFill>
                  <a:srgbClr val="46D9FF"/>
                </a:solidFill>
                <a:latin typeface="Arial"/>
              </a:rPr>
              <a:t>Формула</a:t>
            </a:r>
            <a:r>
              <a:rPr sz="1500" b="1" dirty="0">
                <a:solidFill>
                  <a:srgbClr val="46D9FF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46D9FF"/>
                </a:solidFill>
                <a:latin typeface="Arial"/>
              </a:rPr>
              <a:t>настройки</a:t>
            </a:r>
            <a:br>
              <a:rPr lang="ru-RU" sz="1500" b="1" dirty="0">
                <a:solidFill>
                  <a:srgbClr val="46D9FF"/>
                </a:solidFill>
                <a:latin typeface="Arial"/>
              </a:rPr>
            </a:br>
            <a:endParaRPr sz="1500" b="1" dirty="0">
              <a:solidFill>
                <a:srgbClr val="46D9FF"/>
              </a:solidFill>
              <a:latin typeface="Arial"/>
            </a:endParaRPr>
          </a:p>
          <a:p>
            <a:pPr algn="l"/>
            <a:r>
              <a:rPr sz="1300" b="0" dirty="0">
                <a:solidFill>
                  <a:srgbClr val="EAF4FF"/>
                </a:solidFill>
                <a:latin typeface="Arial"/>
              </a:rPr>
              <a:t>threshold ≈ L2_cache /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sizeof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(T) × 0.7.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Запас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нужен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под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стек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,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буфер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и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соседние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данные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31520" y="5532120"/>
            <a:ext cx="10058400" cy="59436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FFD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87500" lnSpcReduction="20000"/>
          </a:bodyPr>
          <a:lstStyle/>
          <a:p>
            <a:pPr algn="l"/>
            <a:r>
              <a:rPr sz="1300" b="1" dirty="0" err="1">
                <a:solidFill>
                  <a:srgbClr val="FFD24D"/>
                </a:solidFill>
                <a:latin typeface="Arial"/>
              </a:rPr>
              <a:t>Ключевая</a:t>
            </a:r>
            <a:r>
              <a:rPr sz="1300" b="1" dirty="0">
                <a:solidFill>
                  <a:srgbClr val="FFD24D"/>
                </a:solidFill>
                <a:latin typeface="Arial"/>
              </a:rPr>
              <a:t> </a:t>
            </a:r>
            <a:r>
              <a:rPr sz="1300" b="1" dirty="0" err="1">
                <a:solidFill>
                  <a:srgbClr val="FFD24D"/>
                </a:solidFill>
                <a:latin typeface="Arial"/>
              </a:rPr>
              <a:t>мысль</a:t>
            </a:r>
            <a:br>
              <a:rPr lang="ru-RU" sz="1300" b="1" dirty="0">
                <a:solidFill>
                  <a:srgbClr val="FFD24D"/>
                </a:solidFill>
                <a:latin typeface="Arial"/>
              </a:rPr>
            </a:br>
            <a:endParaRPr sz="1300" b="1" dirty="0">
              <a:solidFill>
                <a:srgbClr val="FFD24D"/>
              </a:solidFill>
              <a:latin typeface="Arial"/>
            </a:endParaRPr>
          </a:p>
          <a:p>
            <a:pPr algn="l"/>
            <a:r>
              <a:rPr sz="1200" b="0" dirty="0" err="1">
                <a:solidFill>
                  <a:srgbClr val="EAF4FF"/>
                </a:solidFill>
                <a:latin typeface="Arial"/>
              </a:rPr>
              <a:t>Кэш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процессора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часто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важнее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,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чем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количество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ядер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: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маленькие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куски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быстрее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отдать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std::sort.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Рисунок 61">
            <a:extLst>
              <a:ext uri="{FF2B5EF4-FFF2-40B4-BE49-F238E27FC236}">
                <a16:creationId xmlns:a16="http://schemas.microsoft.com/office/drawing/2014/main" id="{EA557585-8E55-4AA3-B5D9-194631143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30352" y="347472"/>
            <a:ext cx="11100816" cy="0"/>
          </a:xfrm>
          <a:prstGeom prst="line">
            <a:avLst/>
          </a:prstGeom>
          <a:noFill/>
          <a:ln w="12700">
            <a:solidFill>
              <a:srgbClr val="2636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30352" y="6455664"/>
            <a:ext cx="11100816" cy="0"/>
          </a:xfrm>
          <a:prstGeom prst="line">
            <a:avLst/>
          </a:prstGeom>
          <a:noFill/>
          <a:ln w="12700">
            <a:solidFill>
              <a:srgbClr val="263645">
                <a:alpha val="8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 rot="10800000">
            <a:off x="11155680" y="-1005840"/>
            <a:ext cx="2011680" cy="2011680"/>
          </a:xfrm>
          <a:prstGeom prst="arc">
            <a:avLst/>
          </a:prstGeom>
          <a:solidFill>
            <a:srgbClr val="76B900">
              <a:alpha val="8000"/>
            </a:srgbClr>
          </a:solidFill>
          <a:ln w="12700">
            <a:solidFill>
              <a:srgbClr val="76B900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49808" y="5120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sz="819" b="1">
                <a:solidFill>
                  <a:srgbClr val="7ED10A"/>
                </a:solidFill>
                <a:latin typeface="Arial"/>
              </a:rPr>
              <a:t>КОНТРОЛЬ ГЛУБИНЫ И ПОТОКОВ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749808" y="786384"/>
            <a:ext cx="9015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sz="2400" b="1" dirty="0" err="1">
                <a:solidFill>
                  <a:srgbClr val="EAF4FF"/>
                </a:solidFill>
                <a:latin typeface="Arial"/>
              </a:rPr>
              <a:t>hardware_concurrency</a:t>
            </a:r>
            <a:r>
              <a:rPr sz="2400" b="1" dirty="0">
                <a:solidFill>
                  <a:srgbClr val="EAF4FF"/>
                </a:solidFill>
                <a:latin typeface="Arial"/>
              </a:rPr>
              <a:t>() </a:t>
            </a:r>
            <a:r>
              <a:rPr sz="2400" b="1" dirty="0" err="1">
                <a:solidFill>
                  <a:srgbClr val="EAF4FF"/>
                </a:solidFill>
                <a:latin typeface="Arial"/>
              </a:rPr>
              <a:t>задаёт</a:t>
            </a:r>
            <a:r>
              <a:rPr sz="2400" b="1" dirty="0">
                <a:solidFill>
                  <a:srgbClr val="EAF4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EAF4FF"/>
                </a:solidFill>
                <a:latin typeface="Arial"/>
              </a:rPr>
              <a:t>потолок</a:t>
            </a:r>
            <a:r>
              <a:rPr sz="2400" b="1" dirty="0">
                <a:solidFill>
                  <a:srgbClr val="EAF4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EAF4FF"/>
                </a:solidFill>
                <a:latin typeface="Arial"/>
              </a:rPr>
              <a:t>потоков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68096" y="144475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sz="1200" b="0" dirty="0" err="1">
                <a:solidFill>
                  <a:srgbClr val="9FB2C0"/>
                </a:solidFill>
                <a:latin typeface="Arial"/>
              </a:rPr>
              <a:t>Когда</a:t>
            </a:r>
            <a:r>
              <a:rPr sz="1200" b="0" dirty="0">
                <a:solidFill>
                  <a:srgbClr val="9FB2C0"/>
                </a:solidFill>
                <a:latin typeface="Arial"/>
              </a:rPr>
              <a:t> depth </a:t>
            </a:r>
            <a:r>
              <a:rPr sz="1200" b="0" dirty="0" err="1">
                <a:solidFill>
                  <a:srgbClr val="9FB2C0"/>
                </a:solidFill>
                <a:latin typeface="Arial"/>
              </a:rPr>
              <a:t>заканчивается</a:t>
            </a:r>
            <a:r>
              <a:rPr sz="1200" b="0" dirty="0">
                <a:solidFill>
                  <a:srgbClr val="9FB2C0"/>
                </a:solidFill>
                <a:latin typeface="Arial"/>
              </a:rPr>
              <a:t>, </a:t>
            </a:r>
            <a:r>
              <a:rPr sz="1200" b="0" dirty="0" err="1">
                <a:solidFill>
                  <a:srgbClr val="9FB2C0"/>
                </a:solidFill>
                <a:latin typeface="Arial"/>
              </a:rPr>
              <a:t>включается</a:t>
            </a:r>
            <a:r>
              <a:rPr sz="1200" b="0" dirty="0">
                <a:solidFill>
                  <a:srgbClr val="9FB2C0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9FB2C0"/>
                </a:solidFill>
                <a:latin typeface="Arial"/>
              </a:rPr>
              <a:t>синхронный</a:t>
            </a:r>
            <a:r>
              <a:rPr sz="1200" b="0" dirty="0">
                <a:solidFill>
                  <a:srgbClr val="9FB2C0"/>
                </a:solidFill>
                <a:latin typeface="Arial"/>
              </a:rPr>
              <a:t> fallback.</a:t>
            </a:r>
            <a:endParaRPr lang="en-US" sz="1200" dirty="0"/>
          </a:p>
        </p:txBody>
      </p:sp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E6C7D408-AB22-482D-B157-90B098FC80C4}"/>
              </a:ext>
            </a:extLst>
          </p:cNvPr>
          <p:cNvGrpSpPr/>
          <p:nvPr/>
        </p:nvGrpSpPr>
        <p:grpSpPr>
          <a:xfrm>
            <a:off x="140185" y="117434"/>
            <a:ext cx="420946" cy="374904"/>
            <a:chOff x="140185" y="117434"/>
            <a:chExt cx="420946" cy="374904"/>
          </a:xfrm>
        </p:grpSpPr>
        <p:sp>
          <p:nvSpPr>
            <p:cNvPr id="55" name="Shape 3">
              <a:extLst>
                <a:ext uri="{FF2B5EF4-FFF2-40B4-BE49-F238E27FC236}">
                  <a16:creationId xmlns:a16="http://schemas.microsoft.com/office/drawing/2014/main" id="{6C6BF43C-5A23-467C-B4C7-FEDE78C11BE3}"/>
                </a:ext>
              </a:extLst>
            </p:cNvPr>
            <p:cNvSpPr/>
            <p:nvPr/>
          </p:nvSpPr>
          <p:spPr>
            <a:xfrm>
              <a:off x="140185" y="117434"/>
              <a:ext cx="420946" cy="374904"/>
            </a:xfrm>
            <a:prstGeom prst="roundRect">
              <a:avLst/>
            </a:prstGeom>
            <a:solidFill>
              <a:srgbClr val="1A320D">
                <a:alpha val="85000"/>
              </a:srgbClr>
            </a:solidFill>
            <a:ln w="12700">
              <a:solidFill>
                <a:srgbClr val="8AE000"/>
              </a:solidFill>
              <a:prstDash val="solid"/>
            </a:ln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56" name="Text 4">
              <a:extLst>
                <a:ext uri="{FF2B5EF4-FFF2-40B4-BE49-F238E27FC236}">
                  <a16:creationId xmlns:a16="http://schemas.microsoft.com/office/drawing/2014/main" id="{13FE18DD-FEDC-4276-8545-5967ED02FA94}"/>
                </a:ext>
              </a:extLst>
            </p:cNvPr>
            <p:cNvSpPr/>
            <p:nvPr/>
          </p:nvSpPr>
          <p:spPr>
            <a:xfrm>
              <a:off x="185285" y="219870"/>
              <a:ext cx="330743" cy="1426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>
                  <a:solidFill>
                    <a:srgbClr val="8AE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06</a:t>
              </a:r>
              <a:endParaRPr lang="en-US" sz="1200" dirty="0"/>
            </a:p>
          </p:txBody>
        </p:sp>
      </p:grpSp>
      <p:sp>
        <p:nvSpPr>
          <p:cNvPr id="57" name="Text 6">
            <a:extLst>
              <a:ext uri="{FF2B5EF4-FFF2-40B4-BE49-F238E27FC236}">
                <a16:creationId xmlns:a16="http://schemas.microsoft.com/office/drawing/2014/main" id="{2BFCE385-E92F-4815-97C6-0D6665691AA0}"/>
              </a:ext>
            </a:extLst>
          </p:cNvPr>
          <p:cNvSpPr/>
          <p:nvPr/>
        </p:nvSpPr>
        <p:spPr>
          <a:xfrm>
            <a:off x="9751835" y="182880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r">
              <a:buNone/>
            </a:pPr>
            <a:r>
              <a:rPr sz="1050" b="0">
                <a:solidFill>
                  <a:srgbClr val="9FB2C0"/>
                </a:solidFill>
                <a:latin typeface="Arial"/>
              </a:rPr>
              <a:t>PARALLEL SORT</a:t>
            </a:r>
            <a:endParaRPr lang="en-US" sz="1050" dirty="0"/>
          </a:p>
        </p:txBody>
      </p:sp>
      <p:sp>
        <p:nvSpPr>
          <p:cNvPr id="63" name="Rounded Rectangle 62"/>
          <p:cNvSpPr/>
          <p:nvPr/>
        </p:nvSpPr>
        <p:spPr>
          <a:xfrm>
            <a:off x="822960" y="2057400"/>
            <a:ext cx="4023360" cy="132588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400" b="1" dirty="0" err="1">
                <a:solidFill>
                  <a:srgbClr val="46D9FF"/>
                </a:solidFill>
                <a:latin typeface="Arial"/>
              </a:rPr>
              <a:t>Код</a:t>
            </a:r>
            <a:r>
              <a:rPr sz="1400" b="1" dirty="0">
                <a:solidFill>
                  <a:srgbClr val="46D9FF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46D9FF"/>
                </a:solidFill>
                <a:latin typeface="Arial"/>
              </a:rPr>
              <a:t>идеи</a:t>
            </a:r>
            <a:br>
              <a:rPr lang="ru-RU" sz="1400" b="1" dirty="0">
                <a:solidFill>
                  <a:srgbClr val="46D9FF"/>
                </a:solidFill>
                <a:latin typeface="Arial"/>
              </a:rPr>
            </a:br>
            <a:endParaRPr sz="1400" b="1" dirty="0">
              <a:solidFill>
                <a:srgbClr val="46D9FF"/>
              </a:solidFill>
              <a:latin typeface="Arial"/>
            </a:endParaRPr>
          </a:p>
          <a:p>
            <a:pPr algn="l"/>
            <a:r>
              <a:rPr sz="1300" b="0" dirty="0">
                <a:solidFill>
                  <a:srgbClr val="EAF4FF"/>
                </a:solidFill>
                <a:latin typeface="Arial"/>
              </a:rPr>
              <a:t>auto n = std::thread::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hardware_concurrency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();</a:t>
            </a:r>
          </a:p>
          <a:p>
            <a:pPr algn="l"/>
            <a:r>
              <a:rPr sz="1300" b="0" dirty="0">
                <a:solidFill>
                  <a:srgbClr val="EAF4FF"/>
                </a:solidFill>
                <a:latin typeface="Arial"/>
              </a:rPr>
              <a:t>while ((1 &lt;&lt; depth) &lt; n) ++depth;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486400" y="2057400"/>
            <a:ext cx="1234440" cy="132588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800" b="1" dirty="0">
                <a:solidFill>
                  <a:srgbClr val="46D9FF"/>
                </a:solidFill>
                <a:latin typeface="Arial"/>
              </a:rPr>
              <a:t>4 </a:t>
            </a:r>
            <a:r>
              <a:rPr sz="1800" b="1" dirty="0" err="1">
                <a:solidFill>
                  <a:srgbClr val="46D9FF"/>
                </a:solidFill>
                <a:latin typeface="Arial"/>
              </a:rPr>
              <a:t>яд</a:t>
            </a:r>
            <a:r>
              <a:rPr lang="ru-RU" sz="1800" b="1" dirty="0" err="1">
                <a:solidFill>
                  <a:srgbClr val="46D9FF"/>
                </a:solidFill>
                <a:latin typeface="Arial"/>
              </a:rPr>
              <a:t>ра</a:t>
            </a:r>
            <a:br>
              <a:rPr lang="ru-RU" sz="1800" b="1" dirty="0">
                <a:solidFill>
                  <a:srgbClr val="46D9FF"/>
                </a:solidFill>
                <a:latin typeface="Arial"/>
              </a:rPr>
            </a:br>
            <a:endParaRPr sz="1800" b="1" dirty="0">
              <a:solidFill>
                <a:srgbClr val="46D9FF"/>
              </a:solidFill>
              <a:latin typeface="Arial"/>
            </a:endParaRPr>
          </a:p>
          <a:p>
            <a:pPr algn="l"/>
            <a:r>
              <a:rPr sz="1200" b="0" dirty="0">
                <a:solidFill>
                  <a:srgbClr val="EAF4FF"/>
                </a:solidFill>
                <a:latin typeface="Arial"/>
              </a:rPr>
              <a:t>depth = 2</a:t>
            </a:r>
          </a:p>
          <a:p>
            <a:pPr algn="l"/>
            <a:r>
              <a:rPr sz="1200" b="0" dirty="0" err="1">
                <a:solidFill>
                  <a:srgbClr val="EAF4FF"/>
                </a:solidFill>
                <a:latin typeface="Arial"/>
              </a:rPr>
              <a:t>до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4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потоков</a:t>
            </a:r>
            <a:endParaRPr sz="1200" b="0" dirty="0">
              <a:solidFill>
                <a:srgbClr val="EAF4FF"/>
              </a:solidFill>
              <a:latin typeface="Arial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7086600" y="2057400"/>
            <a:ext cx="1234440" cy="132588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7ED1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800" b="1" dirty="0">
                <a:solidFill>
                  <a:srgbClr val="7ED10A"/>
                </a:solidFill>
                <a:latin typeface="Arial"/>
              </a:rPr>
              <a:t>8 </a:t>
            </a:r>
            <a:r>
              <a:rPr sz="1800" b="1" dirty="0" err="1">
                <a:solidFill>
                  <a:srgbClr val="7ED10A"/>
                </a:solidFill>
                <a:latin typeface="Arial"/>
              </a:rPr>
              <a:t>ядер</a:t>
            </a:r>
            <a:br>
              <a:rPr lang="ru-RU" sz="1800" b="1" dirty="0">
                <a:solidFill>
                  <a:srgbClr val="7ED10A"/>
                </a:solidFill>
                <a:latin typeface="Arial"/>
              </a:rPr>
            </a:br>
            <a:endParaRPr sz="1800" b="1" dirty="0">
              <a:solidFill>
                <a:srgbClr val="7ED10A"/>
              </a:solidFill>
              <a:latin typeface="Arial"/>
            </a:endParaRPr>
          </a:p>
          <a:p>
            <a:pPr algn="l"/>
            <a:r>
              <a:rPr sz="1200" b="0" dirty="0">
                <a:solidFill>
                  <a:srgbClr val="EAF4FF"/>
                </a:solidFill>
                <a:latin typeface="Arial"/>
              </a:rPr>
              <a:t>depth = 3</a:t>
            </a:r>
          </a:p>
          <a:p>
            <a:pPr algn="l"/>
            <a:r>
              <a:rPr sz="1200" b="0" dirty="0" err="1">
                <a:solidFill>
                  <a:srgbClr val="EAF4FF"/>
                </a:solidFill>
                <a:latin typeface="Arial"/>
              </a:rPr>
              <a:t>до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8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потоков</a:t>
            </a:r>
            <a:endParaRPr sz="1200" b="0" dirty="0">
              <a:solidFill>
                <a:srgbClr val="EAF4FF"/>
              </a:solidFill>
              <a:latin typeface="Arial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8686800" y="2057400"/>
            <a:ext cx="1234440" cy="132588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800" b="1" dirty="0">
                <a:solidFill>
                  <a:srgbClr val="46D9FF"/>
                </a:solidFill>
                <a:latin typeface="Arial"/>
              </a:rPr>
              <a:t>16 </a:t>
            </a:r>
            <a:r>
              <a:rPr sz="1800" b="1" dirty="0" err="1">
                <a:solidFill>
                  <a:srgbClr val="46D9FF"/>
                </a:solidFill>
                <a:latin typeface="Arial"/>
              </a:rPr>
              <a:t>ядер</a:t>
            </a:r>
            <a:br>
              <a:rPr lang="ru-RU" sz="1800" b="1" dirty="0">
                <a:solidFill>
                  <a:srgbClr val="46D9FF"/>
                </a:solidFill>
                <a:latin typeface="Arial"/>
              </a:rPr>
            </a:br>
            <a:endParaRPr sz="1800" b="1" dirty="0">
              <a:solidFill>
                <a:srgbClr val="46D9FF"/>
              </a:solidFill>
              <a:latin typeface="Arial"/>
            </a:endParaRPr>
          </a:p>
          <a:p>
            <a:pPr algn="l"/>
            <a:r>
              <a:rPr sz="1200" b="0" dirty="0">
                <a:solidFill>
                  <a:srgbClr val="EAF4FF"/>
                </a:solidFill>
                <a:latin typeface="Arial"/>
              </a:rPr>
              <a:t>depth = 4</a:t>
            </a:r>
          </a:p>
          <a:p>
            <a:pPr algn="l"/>
            <a:r>
              <a:rPr sz="1200" b="0" dirty="0" err="1">
                <a:solidFill>
                  <a:srgbClr val="EAF4FF"/>
                </a:solidFill>
                <a:latin typeface="Arial"/>
              </a:rPr>
              <a:t>до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16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потоков</a:t>
            </a:r>
            <a:endParaRPr sz="1200" b="0" dirty="0">
              <a:solidFill>
                <a:srgbClr val="EAF4FF"/>
              </a:solidFill>
              <a:latin typeface="Arial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822960" y="4069080"/>
            <a:ext cx="4754880" cy="114300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FFD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500" b="1" dirty="0" err="1">
                <a:solidFill>
                  <a:srgbClr val="FFD24D"/>
                </a:solidFill>
                <a:latin typeface="Arial"/>
              </a:rPr>
              <a:t>План</a:t>
            </a:r>
            <a:r>
              <a:rPr sz="1500" b="1" dirty="0">
                <a:solidFill>
                  <a:srgbClr val="FFD24D"/>
                </a:solidFill>
                <a:latin typeface="Arial"/>
              </a:rPr>
              <a:t> Б </a:t>
            </a:r>
            <a:r>
              <a:rPr sz="1500" b="1" dirty="0" err="1">
                <a:solidFill>
                  <a:srgbClr val="FFD24D"/>
                </a:solidFill>
                <a:latin typeface="Arial"/>
              </a:rPr>
              <a:t>при</a:t>
            </a:r>
            <a:r>
              <a:rPr sz="1500" b="1" dirty="0">
                <a:solidFill>
                  <a:srgbClr val="FFD24D"/>
                </a:solidFill>
                <a:latin typeface="Arial"/>
              </a:rPr>
              <a:t> depth = 0</a:t>
            </a:r>
            <a:br>
              <a:rPr lang="ru-RU" sz="1500" b="1" dirty="0">
                <a:solidFill>
                  <a:srgbClr val="FFD24D"/>
                </a:solidFill>
                <a:latin typeface="Arial"/>
              </a:rPr>
            </a:br>
            <a:endParaRPr sz="1500" b="1" dirty="0">
              <a:solidFill>
                <a:srgbClr val="FFD24D"/>
              </a:solidFill>
              <a:latin typeface="Arial"/>
            </a:endParaRPr>
          </a:p>
          <a:p>
            <a:pPr algn="l"/>
            <a:r>
              <a:rPr sz="1300" b="0" dirty="0" err="1">
                <a:solidFill>
                  <a:srgbClr val="EAF4FF"/>
                </a:solidFill>
                <a:latin typeface="Arial"/>
              </a:rPr>
              <a:t>Дальше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сортируем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синхронно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—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без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Context Switch Hell и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без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перегруза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ОС.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943600" y="4069080"/>
            <a:ext cx="3977639" cy="114300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7ED1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500" b="1" dirty="0" err="1">
                <a:solidFill>
                  <a:srgbClr val="7ED10A"/>
                </a:solidFill>
                <a:latin typeface="Arial"/>
              </a:rPr>
              <a:t>Почему</a:t>
            </a:r>
            <a:r>
              <a:rPr sz="1500" b="1" dirty="0">
                <a:solidFill>
                  <a:srgbClr val="7ED10A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7ED10A"/>
                </a:solidFill>
                <a:latin typeface="Arial"/>
              </a:rPr>
              <a:t>это</a:t>
            </a:r>
            <a:r>
              <a:rPr sz="1500" b="1" dirty="0">
                <a:solidFill>
                  <a:srgbClr val="7ED10A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7ED10A"/>
                </a:solidFill>
                <a:latin typeface="Arial"/>
              </a:rPr>
              <a:t>важно</a:t>
            </a:r>
            <a:br>
              <a:rPr lang="ru-RU" sz="1500" b="1" dirty="0">
                <a:solidFill>
                  <a:srgbClr val="7ED10A"/>
                </a:solidFill>
                <a:latin typeface="Arial"/>
              </a:rPr>
            </a:br>
            <a:endParaRPr sz="1500" b="1" dirty="0">
              <a:solidFill>
                <a:srgbClr val="7ED10A"/>
              </a:solidFill>
              <a:latin typeface="Arial"/>
            </a:endParaRPr>
          </a:p>
          <a:p>
            <a:pPr algn="l"/>
            <a:r>
              <a:rPr sz="1300" b="0" dirty="0">
                <a:solidFill>
                  <a:srgbClr val="EAF4FF"/>
                </a:solidFill>
                <a:latin typeface="Arial"/>
              </a:rPr>
              <a:t>Hyper-Threading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даёт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логические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ядра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,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но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не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удваивает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память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и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не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отменяет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Memory Wall.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Рисунок 80">
            <a:extLst>
              <a:ext uri="{FF2B5EF4-FFF2-40B4-BE49-F238E27FC236}">
                <a16:creationId xmlns:a16="http://schemas.microsoft.com/office/drawing/2014/main" id="{80ABB7A9-A386-4760-BA49-2E6419B9E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30352" y="347472"/>
            <a:ext cx="11100816" cy="0"/>
          </a:xfrm>
          <a:prstGeom prst="line">
            <a:avLst/>
          </a:prstGeom>
          <a:noFill/>
          <a:ln w="12700">
            <a:solidFill>
              <a:srgbClr val="2636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30352" y="6455664"/>
            <a:ext cx="11100816" cy="0"/>
          </a:xfrm>
          <a:prstGeom prst="line">
            <a:avLst/>
          </a:prstGeom>
          <a:noFill/>
          <a:ln w="12700">
            <a:solidFill>
              <a:srgbClr val="263645">
                <a:alpha val="8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 rot="10800000">
            <a:off x="11185855" y="-1005840"/>
            <a:ext cx="2011680" cy="2011680"/>
          </a:xfrm>
          <a:prstGeom prst="arc">
            <a:avLst/>
          </a:prstGeom>
          <a:solidFill>
            <a:srgbClr val="76B900">
              <a:alpha val="8000"/>
            </a:srgbClr>
          </a:solidFill>
          <a:ln w="12700">
            <a:solidFill>
              <a:srgbClr val="76B900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49808" y="5120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sz="819" b="1">
                <a:solidFill>
                  <a:srgbClr val="7ED10A"/>
                </a:solidFill>
                <a:latin typeface="Arial"/>
              </a:rPr>
              <a:t>ZERO-ALLOCATION И ООП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749808" y="786384"/>
            <a:ext cx="9015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sz="2000" b="1" dirty="0" err="1">
                <a:solidFill>
                  <a:srgbClr val="EAF4FF"/>
                </a:solidFill>
                <a:latin typeface="Arial"/>
              </a:rPr>
              <a:t>Один</a:t>
            </a:r>
            <a:r>
              <a:rPr sz="2000" b="1" dirty="0">
                <a:solidFill>
                  <a:srgbClr val="EAF4FF"/>
                </a:solidFill>
                <a:latin typeface="Arial"/>
              </a:rPr>
              <a:t> buffer_ + </a:t>
            </a:r>
            <a:r>
              <a:rPr sz="2000" b="1" dirty="0" err="1">
                <a:solidFill>
                  <a:srgbClr val="EAF4FF"/>
                </a:solidFill>
                <a:latin typeface="Arial"/>
              </a:rPr>
              <a:t>быстрый</a:t>
            </a:r>
            <a:r>
              <a:rPr sz="2000" b="1" dirty="0">
                <a:solidFill>
                  <a:srgbClr val="EAF4FF"/>
                </a:solidFill>
                <a:latin typeface="Arial"/>
              </a:rPr>
              <a:t> skip merge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68096" y="144475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sz="1100" b="0" dirty="0" err="1">
                <a:solidFill>
                  <a:srgbClr val="9FB2C0"/>
                </a:solidFill>
                <a:latin typeface="Arial"/>
              </a:rPr>
              <a:t>Алгоритм</a:t>
            </a:r>
            <a:r>
              <a:rPr sz="1100" b="0" dirty="0">
                <a:solidFill>
                  <a:srgbClr val="9FB2C0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9FB2C0"/>
                </a:solidFill>
                <a:latin typeface="Arial"/>
              </a:rPr>
              <a:t>экономит</a:t>
            </a:r>
            <a:r>
              <a:rPr sz="1100" b="0" dirty="0">
                <a:solidFill>
                  <a:srgbClr val="9FB2C0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9FB2C0"/>
                </a:solidFill>
                <a:latin typeface="Arial"/>
              </a:rPr>
              <a:t>память</a:t>
            </a:r>
            <a:r>
              <a:rPr sz="1100" b="0" dirty="0">
                <a:solidFill>
                  <a:srgbClr val="9FB2C0"/>
                </a:solidFill>
                <a:latin typeface="Arial"/>
              </a:rPr>
              <a:t> и </a:t>
            </a:r>
            <a:r>
              <a:rPr sz="1100" b="0" dirty="0" err="1">
                <a:solidFill>
                  <a:srgbClr val="9FB2C0"/>
                </a:solidFill>
                <a:latin typeface="Arial"/>
              </a:rPr>
              <a:t>пропускает</a:t>
            </a:r>
            <a:r>
              <a:rPr sz="1100" b="0" dirty="0">
                <a:solidFill>
                  <a:srgbClr val="9FB2C0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9FB2C0"/>
                </a:solidFill>
                <a:latin typeface="Arial"/>
              </a:rPr>
              <a:t>лишние</a:t>
            </a:r>
            <a:r>
              <a:rPr sz="1100" b="0" dirty="0">
                <a:solidFill>
                  <a:srgbClr val="9FB2C0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9FB2C0"/>
                </a:solidFill>
                <a:latin typeface="Arial"/>
              </a:rPr>
              <a:t>слияния</a:t>
            </a:r>
            <a:r>
              <a:rPr sz="1100" b="0" dirty="0">
                <a:solidFill>
                  <a:srgbClr val="9FB2C0"/>
                </a:solidFill>
                <a:latin typeface="Arial"/>
              </a:rPr>
              <a:t>.</a:t>
            </a:r>
            <a:endParaRPr lang="en-US" sz="1100" dirty="0"/>
          </a:p>
        </p:txBody>
      </p:sp>
      <p:grpSp>
        <p:nvGrpSpPr>
          <p:cNvPr id="82" name="Группа 81">
            <a:extLst>
              <a:ext uri="{FF2B5EF4-FFF2-40B4-BE49-F238E27FC236}">
                <a16:creationId xmlns:a16="http://schemas.microsoft.com/office/drawing/2014/main" id="{148081EF-7DD2-4661-96AA-2DFCAE75E87D}"/>
              </a:ext>
            </a:extLst>
          </p:cNvPr>
          <p:cNvGrpSpPr/>
          <p:nvPr/>
        </p:nvGrpSpPr>
        <p:grpSpPr>
          <a:xfrm>
            <a:off x="140185" y="117434"/>
            <a:ext cx="420946" cy="374904"/>
            <a:chOff x="140185" y="117434"/>
            <a:chExt cx="420946" cy="374904"/>
          </a:xfrm>
        </p:grpSpPr>
        <p:sp>
          <p:nvSpPr>
            <p:cNvPr id="83" name="Shape 3">
              <a:extLst>
                <a:ext uri="{FF2B5EF4-FFF2-40B4-BE49-F238E27FC236}">
                  <a16:creationId xmlns:a16="http://schemas.microsoft.com/office/drawing/2014/main" id="{1E7C1B04-20A4-4727-AC04-C2DEB3FFE865}"/>
                </a:ext>
              </a:extLst>
            </p:cNvPr>
            <p:cNvSpPr/>
            <p:nvPr/>
          </p:nvSpPr>
          <p:spPr>
            <a:xfrm>
              <a:off x="140185" y="117434"/>
              <a:ext cx="420946" cy="374904"/>
            </a:xfrm>
            <a:prstGeom prst="roundRect">
              <a:avLst/>
            </a:prstGeom>
            <a:solidFill>
              <a:srgbClr val="1A320D">
                <a:alpha val="85000"/>
              </a:srgbClr>
            </a:solidFill>
            <a:ln w="12700">
              <a:solidFill>
                <a:srgbClr val="8AE000"/>
              </a:solidFill>
              <a:prstDash val="solid"/>
            </a:ln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84" name="Text 4">
              <a:extLst>
                <a:ext uri="{FF2B5EF4-FFF2-40B4-BE49-F238E27FC236}">
                  <a16:creationId xmlns:a16="http://schemas.microsoft.com/office/drawing/2014/main" id="{C5749CDC-B94D-4EF2-A2FB-0336793D65F4}"/>
                </a:ext>
              </a:extLst>
            </p:cNvPr>
            <p:cNvSpPr/>
            <p:nvPr/>
          </p:nvSpPr>
          <p:spPr>
            <a:xfrm>
              <a:off x="185285" y="219870"/>
              <a:ext cx="330743" cy="1426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>
                  <a:solidFill>
                    <a:srgbClr val="8AE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07</a:t>
              </a:r>
              <a:endParaRPr lang="en-US" sz="1200" dirty="0"/>
            </a:p>
          </p:txBody>
        </p:sp>
      </p:grpSp>
      <p:sp>
        <p:nvSpPr>
          <p:cNvPr id="86" name="Text 6">
            <a:extLst>
              <a:ext uri="{FF2B5EF4-FFF2-40B4-BE49-F238E27FC236}">
                <a16:creationId xmlns:a16="http://schemas.microsoft.com/office/drawing/2014/main" id="{0C3BCF98-D273-46CF-99CD-E2D48CFD93B1}"/>
              </a:ext>
            </a:extLst>
          </p:cNvPr>
          <p:cNvSpPr/>
          <p:nvPr/>
        </p:nvSpPr>
        <p:spPr>
          <a:xfrm>
            <a:off x="9751835" y="182880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r">
              <a:buNone/>
            </a:pPr>
            <a:r>
              <a:rPr sz="1050" b="0">
                <a:solidFill>
                  <a:srgbClr val="9FB2C0"/>
                </a:solidFill>
                <a:latin typeface="Arial"/>
              </a:rPr>
              <a:t>PARALLEL SORT</a:t>
            </a:r>
            <a:endParaRPr lang="en-US" sz="1050" dirty="0"/>
          </a:p>
        </p:txBody>
      </p:sp>
      <p:sp>
        <p:nvSpPr>
          <p:cNvPr id="87" name="Rounded Rectangle 86"/>
          <p:cNvSpPr/>
          <p:nvPr/>
        </p:nvSpPr>
        <p:spPr>
          <a:xfrm>
            <a:off x="731520" y="2057400"/>
            <a:ext cx="4892040" cy="201168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7ED1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600" b="1" dirty="0">
                <a:solidFill>
                  <a:srgbClr val="7ED10A"/>
                </a:solidFill>
                <a:latin typeface="Arial"/>
              </a:rPr>
              <a:t>Zero-Allocation</a:t>
            </a:r>
            <a:br>
              <a:rPr lang="ru-RU" sz="1600" b="1" dirty="0">
                <a:solidFill>
                  <a:srgbClr val="7ED10A"/>
                </a:solidFill>
                <a:latin typeface="Arial"/>
              </a:rPr>
            </a:br>
            <a:endParaRPr sz="1600" b="1" dirty="0">
              <a:solidFill>
                <a:srgbClr val="7ED10A"/>
              </a:solidFill>
              <a:latin typeface="Arial"/>
            </a:endParaRPr>
          </a:p>
          <a:p>
            <a:pPr algn="l"/>
            <a:r>
              <a:rPr sz="1300" b="0" dirty="0">
                <a:solidFill>
                  <a:srgbClr val="EAF4FF"/>
                </a:solidFill>
                <a:latin typeface="Arial"/>
              </a:rPr>
              <a:t>buffer_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создаётся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один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раз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внутри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ParallelMergeSorter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. std::copy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переносит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данные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в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буфер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для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безопасного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merge.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989320" y="2057400"/>
            <a:ext cx="4892040" cy="201168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600" b="1" dirty="0">
                <a:solidFill>
                  <a:srgbClr val="46D9FF"/>
                </a:solidFill>
                <a:latin typeface="Arial"/>
              </a:rPr>
              <a:t>Skip Merge</a:t>
            </a:r>
            <a:br>
              <a:rPr lang="ru-RU" sz="1600" b="1" dirty="0">
                <a:solidFill>
                  <a:srgbClr val="46D9FF"/>
                </a:solidFill>
                <a:latin typeface="Arial"/>
              </a:rPr>
            </a:br>
            <a:endParaRPr sz="1600" b="1" dirty="0">
              <a:solidFill>
                <a:srgbClr val="46D9FF"/>
              </a:solidFill>
              <a:latin typeface="Arial"/>
            </a:endParaRPr>
          </a:p>
          <a:p>
            <a:pPr algn="l"/>
            <a:r>
              <a:rPr sz="1300" b="0" dirty="0" err="1">
                <a:solidFill>
                  <a:srgbClr val="EAF4FF"/>
                </a:solidFill>
                <a:latin typeface="Arial"/>
              </a:rPr>
              <a:t>если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arr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[mid] &lt;=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arr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[mid + 1],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две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половины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уже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стоят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правильно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— merge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пропускается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31520" y="4709160"/>
            <a:ext cx="4892040" cy="105156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7ED1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500" b="1" dirty="0" err="1">
                <a:solidFill>
                  <a:srgbClr val="7ED10A"/>
                </a:solidFill>
                <a:latin typeface="Arial"/>
              </a:rPr>
              <a:t>Пример</a:t>
            </a:r>
            <a:br>
              <a:rPr lang="ru-RU" sz="1500" b="1" dirty="0">
                <a:solidFill>
                  <a:srgbClr val="7ED10A"/>
                </a:solidFill>
                <a:latin typeface="Arial"/>
              </a:rPr>
            </a:br>
            <a:endParaRPr sz="1500" b="1" dirty="0">
              <a:solidFill>
                <a:srgbClr val="7ED10A"/>
              </a:solidFill>
              <a:latin typeface="Arial"/>
            </a:endParaRPr>
          </a:p>
          <a:p>
            <a:pPr algn="l"/>
            <a:r>
              <a:rPr sz="1300" b="0" dirty="0">
                <a:solidFill>
                  <a:srgbClr val="EAF4FF"/>
                </a:solidFill>
                <a:latin typeface="Arial"/>
              </a:rPr>
              <a:t>[1, 3, 5, 7] + [8, 9, 10, 11] → return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989320" y="4709160"/>
            <a:ext cx="4892040" cy="105156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FFD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500" b="1" dirty="0" err="1">
                <a:solidFill>
                  <a:srgbClr val="FFD24D"/>
                </a:solidFill>
                <a:latin typeface="Arial"/>
              </a:rPr>
              <a:t>Где</a:t>
            </a:r>
            <a:r>
              <a:rPr sz="1500" b="1" dirty="0">
                <a:solidFill>
                  <a:srgbClr val="FFD24D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FFD24D"/>
                </a:solidFill>
                <a:latin typeface="Arial"/>
              </a:rPr>
              <a:t>полезно</a:t>
            </a:r>
            <a:br>
              <a:rPr lang="ru-RU" sz="1500" b="1" dirty="0">
                <a:solidFill>
                  <a:srgbClr val="FFD24D"/>
                </a:solidFill>
                <a:latin typeface="Arial"/>
              </a:rPr>
            </a:br>
            <a:endParaRPr sz="1500" b="1" dirty="0">
              <a:solidFill>
                <a:srgbClr val="FFD24D"/>
              </a:solidFill>
              <a:latin typeface="Arial"/>
            </a:endParaRPr>
          </a:p>
          <a:p>
            <a:pPr algn="l"/>
            <a:r>
              <a:rPr sz="1300" b="0" dirty="0" err="1">
                <a:solidFill>
                  <a:srgbClr val="EAF4FF"/>
                </a:solidFill>
                <a:latin typeface="Arial"/>
              </a:rPr>
              <a:t>логи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,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временные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ряды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и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почти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отсортированные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данные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: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до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30–50%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меньше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слияний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Рисунок 72">
            <a:extLst>
              <a:ext uri="{FF2B5EF4-FFF2-40B4-BE49-F238E27FC236}">
                <a16:creationId xmlns:a16="http://schemas.microsoft.com/office/drawing/2014/main" id="{149EE1AF-DB99-4F1F-B0AE-E54C40045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30352" y="347472"/>
            <a:ext cx="11100816" cy="0"/>
          </a:xfrm>
          <a:prstGeom prst="line">
            <a:avLst/>
          </a:prstGeom>
          <a:noFill/>
          <a:ln w="12700">
            <a:solidFill>
              <a:srgbClr val="2636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30352" y="6455664"/>
            <a:ext cx="11100816" cy="0"/>
          </a:xfrm>
          <a:prstGeom prst="line">
            <a:avLst/>
          </a:prstGeom>
          <a:noFill/>
          <a:ln w="12700">
            <a:solidFill>
              <a:srgbClr val="263645">
                <a:alpha val="8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 rot="10800000">
            <a:off x="11186160" y="-1005840"/>
            <a:ext cx="2011680" cy="2011680"/>
          </a:xfrm>
          <a:prstGeom prst="arc">
            <a:avLst/>
          </a:prstGeom>
          <a:solidFill>
            <a:srgbClr val="76B900">
              <a:alpha val="8000"/>
            </a:srgbClr>
          </a:solidFill>
          <a:ln w="12700">
            <a:solidFill>
              <a:srgbClr val="76B900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49808" y="5120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sz="819" b="1">
                <a:solidFill>
                  <a:srgbClr val="7ED10A"/>
                </a:solidFill>
                <a:latin typeface="Arial"/>
              </a:rPr>
              <a:t>РЕЗУЛЬТАТЫ БЕНЧМАРКОВ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749808" y="786384"/>
            <a:ext cx="9015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sz="2400" b="1" dirty="0">
                <a:solidFill>
                  <a:srgbClr val="EAF4FF"/>
                </a:solidFill>
                <a:latin typeface="Arial"/>
              </a:rPr>
              <a:t>10 </a:t>
            </a:r>
            <a:r>
              <a:rPr sz="2400" b="1" dirty="0" err="1">
                <a:solidFill>
                  <a:srgbClr val="EAF4FF"/>
                </a:solidFill>
                <a:latin typeface="Arial"/>
              </a:rPr>
              <a:t>млн</a:t>
            </a:r>
            <a:r>
              <a:rPr sz="2400" b="1" dirty="0">
                <a:solidFill>
                  <a:srgbClr val="EAF4FF"/>
                </a:solidFill>
                <a:latin typeface="Arial"/>
              </a:rPr>
              <a:t> int: 189 </a:t>
            </a:r>
            <a:r>
              <a:rPr sz="2400" b="1" dirty="0" err="1">
                <a:solidFill>
                  <a:srgbClr val="EAF4FF"/>
                </a:solidFill>
                <a:latin typeface="Arial"/>
              </a:rPr>
              <a:t>ms</a:t>
            </a:r>
            <a:r>
              <a:rPr sz="2400" b="1" dirty="0">
                <a:solidFill>
                  <a:srgbClr val="EAF4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EAF4FF"/>
                </a:solidFill>
                <a:latin typeface="Arial"/>
              </a:rPr>
              <a:t>против</a:t>
            </a:r>
            <a:r>
              <a:rPr sz="2400" b="1" dirty="0">
                <a:solidFill>
                  <a:srgbClr val="EAF4FF"/>
                </a:solidFill>
                <a:latin typeface="Arial"/>
              </a:rPr>
              <a:t> 93 </a:t>
            </a:r>
            <a:r>
              <a:rPr sz="2400" b="1" dirty="0" err="1">
                <a:solidFill>
                  <a:srgbClr val="EAF4FF"/>
                </a:solidFill>
                <a:latin typeface="Arial"/>
              </a:rPr>
              <a:t>ms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68096" y="144475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sz="1100" b="0" dirty="0">
                <a:solidFill>
                  <a:srgbClr val="9FB2C0"/>
                </a:solidFill>
                <a:latin typeface="Arial"/>
              </a:rPr>
              <a:t>Speedup 2.03× с </a:t>
            </a:r>
            <a:r>
              <a:rPr sz="1100" b="0" dirty="0" err="1">
                <a:solidFill>
                  <a:srgbClr val="9FB2C0"/>
                </a:solidFill>
                <a:latin typeface="Arial"/>
              </a:rPr>
              <a:t>честными</a:t>
            </a:r>
            <a:r>
              <a:rPr sz="1100" b="0" dirty="0">
                <a:solidFill>
                  <a:srgbClr val="9FB2C0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9FB2C0"/>
                </a:solidFill>
                <a:latin typeface="Arial"/>
              </a:rPr>
              <a:t>ограничениями</a:t>
            </a:r>
            <a:r>
              <a:rPr sz="1100" b="0" dirty="0">
                <a:solidFill>
                  <a:srgbClr val="9FB2C0"/>
                </a:solidFill>
                <a:latin typeface="Arial"/>
              </a:rPr>
              <a:t> Memory Wall и </a:t>
            </a:r>
            <a:r>
              <a:rPr sz="1100" b="0" dirty="0" err="1">
                <a:solidFill>
                  <a:srgbClr val="9FB2C0"/>
                </a:solidFill>
                <a:latin typeface="Arial"/>
              </a:rPr>
              <a:t>закона</a:t>
            </a:r>
            <a:r>
              <a:rPr sz="1100" b="0" dirty="0">
                <a:solidFill>
                  <a:srgbClr val="9FB2C0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9FB2C0"/>
                </a:solidFill>
                <a:latin typeface="Arial"/>
              </a:rPr>
              <a:t>Амдала</a:t>
            </a:r>
            <a:r>
              <a:rPr sz="1100" b="0" dirty="0">
                <a:solidFill>
                  <a:srgbClr val="9FB2C0"/>
                </a:solidFill>
                <a:latin typeface="Arial"/>
              </a:rPr>
              <a:t>.</a:t>
            </a:r>
            <a:endParaRPr lang="en-US" sz="1100" dirty="0"/>
          </a:p>
        </p:txBody>
      </p:sp>
      <p:grpSp>
        <p:nvGrpSpPr>
          <p:cNvPr id="74" name="Группа 73">
            <a:extLst>
              <a:ext uri="{FF2B5EF4-FFF2-40B4-BE49-F238E27FC236}">
                <a16:creationId xmlns:a16="http://schemas.microsoft.com/office/drawing/2014/main" id="{A3F1B977-1098-4CD5-9795-C3BC0E8B6D6F}"/>
              </a:ext>
            </a:extLst>
          </p:cNvPr>
          <p:cNvGrpSpPr/>
          <p:nvPr/>
        </p:nvGrpSpPr>
        <p:grpSpPr>
          <a:xfrm>
            <a:off x="140185" y="117434"/>
            <a:ext cx="420946" cy="374904"/>
            <a:chOff x="140185" y="117434"/>
            <a:chExt cx="420946" cy="374904"/>
          </a:xfrm>
        </p:grpSpPr>
        <p:sp>
          <p:nvSpPr>
            <p:cNvPr id="75" name="Shape 3">
              <a:extLst>
                <a:ext uri="{FF2B5EF4-FFF2-40B4-BE49-F238E27FC236}">
                  <a16:creationId xmlns:a16="http://schemas.microsoft.com/office/drawing/2014/main" id="{D671851C-2A02-4949-AA22-E79D4168C3D3}"/>
                </a:ext>
              </a:extLst>
            </p:cNvPr>
            <p:cNvSpPr/>
            <p:nvPr/>
          </p:nvSpPr>
          <p:spPr>
            <a:xfrm>
              <a:off x="140185" y="117434"/>
              <a:ext cx="420946" cy="374904"/>
            </a:xfrm>
            <a:prstGeom prst="roundRect">
              <a:avLst/>
            </a:prstGeom>
            <a:solidFill>
              <a:srgbClr val="1A320D">
                <a:alpha val="85000"/>
              </a:srgbClr>
            </a:solidFill>
            <a:ln w="12700">
              <a:solidFill>
                <a:srgbClr val="8AE000"/>
              </a:solidFill>
              <a:prstDash val="solid"/>
            </a:ln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76" name="Text 4">
              <a:extLst>
                <a:ext uri="{FF2B5EF4-FFF2-40B4-BE49-F238E27FC236}">
                  <a16:creationId xmlns:a16="http://schemas.microsoft.com/office/drawing/2014/main" id="{9506DB71-ADC5-41FB-94B8-EC4ECC15B885}"/>
                </a:ext>
              </a:extLst>
            </p:cNvPr>
            <p:cNvSpPr/>
            <p:nvPr/>
          </p:nvSpPr>
          <p:spPr>
            <a:xfrm>
              <a:off x="185285" y="219870"/>
              <a:ext cx="330743" cy="1426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>
                  <a:solidFill>
                    <a:srgbClr val="8AE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08</a:t>
              </a:r>
              <a:endParaRPr lang="en-US" sz="1200" dirty="0"/>
            </a:p>
          </p:txBody>
        </p:sp>
      </p:grpSp>
      <p:sp>
        <p:nvSpPr>
          <p:cNvPr id="77" name="Text 6">
            <a:extLst>
              <a:ext uri="{FF2B5EF4-FFF2-40B4-BE49-F238E27FC236}">
                <a16:creationId xmlns:a16="http://schemas.microsoft.com/office/drawing/2014/main" id="{6D37682D-7F46-4932-953A-07C6507DA22F}"/>
              </a:ext>
            </a:extLst>
          </p:cNvPr>
          <p:cNvSpPr/>
          <p:nvPr/>
        </p:nvSpPr>
        <p:spPr>
          <a:xfrm>
            <a:off x="9751835" y="182880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r">
              <a:buNone/>
            </a:pPr>
            <a:r>
              <a:rPr sz="1050" b="0">
                <a:solidFill>
                  <a:srgbClr val="9FB2C0"/>
                </a:solidFill>
                <a:latin typeface="Arial"/>
              </a:rPr>
              <a:t>PARALLEL SORT</a:t>
            </a:r>
            <a:endParaRPr lang="en-US" sz="1050" dirty="0"/>
          </a:p>
        </p:txBody>
      </p:sp>
      <p:pic>
        <p:nvPicPr>
          <p:cNvPr id="79" name="Picture 78" descr="benchmark_fix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057400"/>
            <a:ext cx="5394960" cy="3337560"/>
          </a:xfrm>
          <a:prstGeom prst="rect">
            <a:avLst/>
          </a:prstGeom>
        </p:spPr>
      </p:pic>
      <p:sp>
        <p:nvSpPr>
          <p:cNvPr id="80" name="Rounded Rectangle 79"/>
          <p:cNvSpPr/>
          <p:nvPr/>
        </p:nvSpPr>
        <p:spPr>
          <a:xfrm>
            <a:off x="6675120" y="2148840"/>
            <a:ext cx="1920240" cy="114300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7ED1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5000"/>
          </a:bodyPr>
          <a:lstStyle/>
          <a:p>
            <a:pPr algn="ctr"/>
            <a:r>
              <a:rPr sz="2200" b="1" dirty="0">
                <a:solidFill>
                  <a:srgbClr val="7ED10A"/>
                </a:solidFill>
                <a:latin typeface="Arial"/>
              </a:rPr>
              <a:t>2.03×</a:t>
            </a:r>
          </a:p>
          <a:p>
            <a:pPr algn="ctr"/>
            <a:r>
              <a:rPr sz="1050" b="0" dirty="0" err="1">
                <a:solidFill>
                  <a:srgbClr val="EAF4FF"/>
                </a:solidFill>
                <a:latin typeface="Arial"/>
              </a:rPr>
              <a:t>реальный</a:t>
            </a:r>
            <a:r>
              <a:rPr sz="1050" b="0" dirty="0">
                <a:solidFill>
                  <a:srgbClr val="EAF4FF"/>
                </a:solidFill>
                <a:latin typeface="Arial"/>
              </a:rPr>
              <a:t> speedup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675120" y="3703320"/>
            <a:ext cx="4160520" cy="155448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FFD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500" b="1" dirty="0" err="1">
                <a:solidFill>
                  <a:srgbClr val="FFD24D"/>
                </a:solidFill>
                <a:latin typeface="Arial"/>
              </a:rPr>
              <a:t>Почему</a:t>
            </a:r>
            <a:r>
              <a:rPr sz="1500" b="1" dirty="0">
                <a:solidFill>
                  <a:srgbClr val="FFD24D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FFD24D"/>
                </a:solidFill>
                <a:latin typeface="Arial"/>
              </a:rPr>
              <a:t>не</a:t>
            </a:r>
            <a:r>
              <a:rPr sz="1500" b="1" dirty="0">
                <a:solidFill>
                  <a:srgbClr val="FFD24D"/>
                </a:solidFill>
                <a:latin typeface="Arial"/>
              </a:rPr>
              <a:t> 8×?</a:t>
            </a:r>
            <a:br>
              <a:rPr lang="ru-RU" sz="1500" b="1" dirty="0">
                <a:solidFill>
                  <a:srgbClr val="FFD24D"/>
                </a:solidFill>
                <a:latin typeface="Arial"/>
              </a:rPr>
            </a:br>
            <a:endParaRPr sz="1500" b="1" dirty="0">
              <a:solidFill>
                <a:srgbClr val="FFD24D"/>
              </a:solidFill>
              <a:latin typeface="Arial"/>
            </a:endParaRPr>
          </a:p>
          <a:p>
            <a:pPr algn="l"/>
            <a:r>
              <a:rPr sz="1250" b="0" dirty="0">
                <a:solidFill>
                  <a:srgbClr val="EAF4FF"/>
                </a:solidFill>
                <a:latin typeface="Arial"/>
              </a:rPr>
              <a:t>Memory Wall: </a:t>
            </a:r>
            <a:r>
              <a:rPr sz="1250" b="0" dirty="0" err="1">
                <a:solidFill>
                  <a:srgbClr val="EAF4FF"/>
                </a:solidFill>
                <a:latin typeface="Arial"/>
              </a:rPr>
              <a:t>память</a:t>
            </a:r>
            <a:r>
              <a:rPr sz="125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EAF4FF"/>
                </a:solidFill>
                <a:latin typeface="Arial"/>
              </a:rPr>
              <a:t>общая</a:t>
            </a:r>
            <a:r>
              <a:rPr sz="1250" b="0" dirty="0">
                <a:solidFill>
                  <a:srgbClr val="EAF4FF"/>
                </a:solidFill>
                <a:latin typeface="Arial"/>
              </a:rPr>
              <a:t>.</a:t>
            </a:r>
          </a:p>
          <a:p>
            <a:pPr algn="l"/>
            <a:r>
              <a:rPr sz="1250" b="0" dirty="0" err="1">
                <a:solidFill>
                  <a:srgbClr val="EAF4FF"/>
                </a:solidFill>
                <a:latin typeface="Arial"/>
              </a:rPr>
              <a:t>Закон</a:t>
            </a:r>
            <a:r>
              <a:rPr sz="125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EAF4FF"/>
                </a:solidFill>
                <a:latin typeface="Arial"/>
              </a:rPr>
              <a:t>Амдала</a:t>
            </a:r>
            <a:r>
              <a:rPr sz="1250" b="0" dirty="0">
                <a:solidFill>
                  <a:srgbClr val="EAF4FF"/>
                </a:solidFill>
                <a:latin typeface="Arial"/>
              </a:rPr>
              <a:t>: </a:t>
            </a:r>
            <a:r>
              <a:rPr sz="1250" b="0" dirty="0" err="1">
                <a:solidFill>
                  <a:srgbClr val="EAF4FF"/>
                </a:solidFill>
                <a:latin typeface="Arial"/>
              </a:rPr>
              <a:t>финальное</a:t>
            </a:r>
            <a:r>
              <a:rPr sz="1250" b="0" dirty="0">
                <a:solidFill>
                  <a:srgbClr val="EAF4FF"/>
                </a:solidFill>
                <a:latin typeface="Arial"/>
              </a:rPr>
              <a:t> merge </a:t>
            </a:r>
            <a:r>
              <a:rPr sz="1250" b="0" dirty="0" err="1">
                <a:solidFill>
                  <a:srgbClr val="EAF4FF"/>
                </a:solidFill>
                <a:latin typeface="Arial"/>
              </a:rPr>
              <a:t>частично</a:t>
            </a:r>
            <a:r>
              <a:rPr sz="125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EAF4FF"/>
                </a:solidFill>
                <a:latin typeface="Arial"/>
              </a:rPr>
              <a:t>последовательное</a:t>
            </a:r>
            <a:r>
              <a:rPr sz="1250" b="0" dirty="0">
                <a:solidFill>
                  <a:srgbClr val="EAF4FF"/>
                </a:solidFill>
                <a:latin typeface="Arial"/>
              </a:rPr>
              <a:t>.</a:t>
            </a:r>
          </a:p>
          <a:p>
            <a:pPr algn="l"/>
            <a:r>
              <a:rPr sz="1250" b="0" dirty="0">
                <a:solidFill>
                  <a:srgbClr val="EAF4FF"/>
                </a:solidFill>
                <a:latin typeface="Arial"/>
              </a:rPr>
              <a:t>std::sort </a:t>
            </a:r>
            <a:r>
              <a:rPr sz="1250" b="0" dirty="0" err="1">
                <a:solidFill>
                  <a:srgbClr val="EAF4FF"/>
                </a:solidFill>
                <a:latin typeface="Arial"/>
              </a:rPr>
              <a:t>уже</a:t>
            </a:r>
            <a:r>
              <a:rPr sz="125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EAF4FF"/>
                </a:solidFill>
                <a:latin typeface="Arial"/>
              </a:rPr>
              <a:t>очень</a:t>
            </a:r>
            <a:r>
              <a:rPr sz="125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EAF4FF"/>
                </a:solidFill>
                <a:latin typeface="Arial"/>
              </a:rPr>
              <a:t>оптимизирован</a:t>
            </a:r>
            <a:r>
              <a:rPr sz="1250" b="0" dirty="0">
                <a:solidFill>
                  <a:srgbClr val="EAF4FF"/>
                </a:solidFill>
                <a:latin typeface="Arial"/>
              </a:rPr>
              <a:t>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22960" y="5715000"/>
            <a:ext cx="10012680" cy="50292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7ED1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80000" lnSpcReduction="20000"/>
          </a:bodyPr>
          <a:lstStyle/>
          <a:p>
            <a:pPr algn="l"/>
            <a:r>
              <a:rPr sz="1250" b="1" dirty="0" err="1">
                <a:solidFill>
                  <a:srgbClr val="7ED10A"/>
                </a:solidFill>
                <a:latin typeface="Arial"/>
              </a:rPr>
              <a:t>Честная</a:t>
            </a:r>
            <a:r>
              <a:rPr sz="1250" b="1" dirty="0">
                <a:solidFill>
                  <a:srgbClr val="7ED10A"/>
                </a:solidFill>
                <a:latin typeface="Arial"/>
              </a:rPr>
              <a:t> </a:t>
            </a:r>
            <a:r>
              <a:rPr sz="1250" b="1" dirty="0" err="1">
                <a:solidFill>
                  <a:srgbClr val="7ED10A"/>
                </a:solidFill>
                <a:latin typeface="Arial"/>
              </a:rPr>
              <a:t>формулировка</a:t>
            </a:r>
            <a:br>
              <a:rPr lang="ru-RU" sz="1250" b="1" dirty="0">
                <a:solidFill>
                  <a:srgbClr val="7ED10A"/>
                </a:solidFill>
                <a:latin typeface="Arial"/>
              </a:rPr>
            </a:br>
            <a:endParaRPr sz="1250" b="1" dirty="0">
              <a:solidFill>
                <a:srgbClr val="7ED10A"/>
              </a:solidFill>
              <a:latin typeface="Arial"/>
            </a:endParaRPr>
          </a:p>
          <a:p>
            <a:pPr algn="l"/>
            <a:r>
              <a:rPr sz="1150" b="0" dirty="0">
                <a:solidFill>
                  <a:srgbClr val="EAF4FF"/>
                </a:solidFill>
                <a:latin typeface="Arial"/>
              </a:rPr>
              <a:t>189 </a:t>
            </a:r>
            <a:r>
              <a:rPr sz="1150" b="0" dirty="0" err="1">
                <a:solidFill>
                  <a:srgbClr val="EAF4FF"/>
                </a:solidFill>
                <a:latin typeface="Arial"/>
              </a:rPr>
              <a:t>ms</a:t>
            </a:r>
            <a:r>
              <a:rPr sz="1150" b="0" dirty="0">
                <a:solidFill>
                  <a:srgbClr val="EAF4FF"/>
                </a:solidFill>
                <a:latin typeface="Arial"/>
              </a:rPr>
              <a:t> → 93 </a:t>
            </a:r>
            <a:r>
              <a:rPr sz="1150" b="0" dirty="0" err="1">
                <a:solidFill>
                  <a:srgbClr val="EAF4FF"/>
                </a:solidFill>
                <a:latin typeface="Arial"/>
              </a:rPr>
              <a:t>ms</a:t>
            </a:r>
            <a:r>
              <a:rPr sz="115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EAF4FF"/>
                </a:solidFill>
                <a:latin typeface="Arial"/>
              </a:rPr>
              <a:t>на</a:t>
            </a:r>
            <a:r>
              <a:rPr sz="1150" b="0" dirty="0">
                <a:solidFill>
                  <a:srgbClr val="EAF4FF"/>
                </a:solidFill>
                <a:latin typeface="Arial"/>
              </a:rPr>
              <a:t> 10 </a:t>
            </a:r>
            <a:r>
              <a:rPr sz="1150" b="0" dirty="0" err="1">
                <a:solidFill>
                  <a:srgbClr val="EAF4FF"/>
                </a:solidFill>
                <a:latin typeface="Arial"/>
              </a:rPr>
              <a:t>млн</a:t>
            </a:r>
            <a:r>
              <a:rPr sz="1150" b="0" dirty="0">
                <a:solidFill>
                  <a:srgbClr val="EAF4FF"/>
                </a:solidFill>
                <a:latin typeface="Arial"/>
              </a:rPr>
              <a:t> int: </a:t>
            </a:r>
            <a:r>
              <a:rPr sz="1150" b="0" dirty="0" err="1">
                <a:solidFill>
                  <a:srgbClr val="EAF4FF"/>
                </a:solidFill>
                <a:latin typeface="Arial"/>
              </a:rPr>
              <a:t>это</a:t>
            </a:r>
            <a:r>
              <a:rPr sz="115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EAF4FF"/>
                </a:solidFill>
                <a:latin typeface="Arial"/>
              </a:rPr>
              <a:t>уже</a:t>
            </a:r>
            <a:r>
              <a:rPr sz="115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EAF4FF"/>
                </a:solidFill>
                <a:latin typeface="Arial"/>
              </a:rPr>
              <a:t>сильный</a:t>
            </a:r>
            <a:r>
              <a:rPr sz="115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EAF4FF"/>
                </a:solidFill>
                <a:latin typeface="Arial"/>
              </a:rPr>
              <a:t>результат</a:t>
            </a:r>
            <a:r>
              <a:rPr sz="115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EAF4FF"/>
                </a:solidFill>
                <a:latin typeface="Arial"/>
              </a:rPr>
              <a:t>для</a:t>
            </a:r>
            <a:r>
              <a:rPr sz="115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EAF4FF"/>
                </a:solidFill>
                <a:latin typeface="Arial"/>
              </a:rPr>
              <a:t>сортировки</a:t>
            </a:r>
            <a:r>
              <a:rPr sz="1150" b="0" dirty="0">
                <a:solidFill>
                  <a:srgbClr val="EAF4FF"/>
                </a:solidFill>
                <a:latin typeface="Arial"/>
              </a:rPr>
              <a:t>, </a:t>
            </a:r>
            <a:r>
              <a:rPr sz="1150" b="0" dirty="0" err="1">
                <a:solidFill>
                  <a:srgbClr val="EAF4FF"/>
                </a:solidFill>
                <a:latin typeface="Arial"/>
              </a:rPr>
              <a:t>ограниченной</a:t>
            </a:r>
            <a:r>
              <a:rPr sz="115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150" b="0" dirty="0" err="1">
                <a:solidFill>
                  <a:srgbClr val="EAF4FF"/>
                </a:solidFill>
                <a:latin typeface="Arial"/>
              </a:rPr>
              <a:t>памятью</a:t>
            </a:r>
            <a:r>
              <a:rPr sz="1150" b="0" dirty="0">
                <a:solidFill>
                  <a:srgbClr val="EAF4FF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4897CB0E-0464-4EF2-BF72-265D03DB7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30352" y="347472"/>
            <a:ext cx="11100816" cy="0"/>
          </a:xfrm>
          <a:prstGeom prst="line">
            <a:avLst/>
          </a:prstGeom>
          <a:noFill/>
          <a:ln w="12700">
            <a:solidFill>
              <a:srgbClr val="2636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30352" y="6455664"/>
            <a:ext cx="11100816" cy="0"/>
          </a:xfrm>
          <a:prstGeom prst="line">
            <a:avLst/>
          </a:prstGeom>
          <a:noFill/>
          <a:ln w="12700">
            <a:solidFill>
              <a:srgbClr val="263645">
                <a:alpha val="8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 rot="10800000">
            <a:off x="11186160" y="-1056132"/>
            <a:ext cx="2011680" cy="2011680"/>
          </a:xfrm>
          <a:prstGeom prst="arc">
            <a:avLst/>
          </a:prstGeom>
          <a:solidFill>
            <a:srgbClr val="76B900">
              <a:alpha val="8000"/>
            </a:srgbClr>
          </a:solidFill>
          <a:ln w="12700">
            <a:solidFill>
              <a:srgbClr val="76B900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49808" y="5120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sz="819" b="1">
                <a:solidFill>
                  <a:srgbClr val="7ED10A"/>
                </a:solidFill>
                <a:latin typeface="Arial"/>
              </a:rPr>
              <a:t>АНАЛИЗ BEST / WORST / AVERAGE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749808" y="786384"/>
            <a:ext cx="9015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sz="2000" b="1" dirty="0">
                <a:solidFill>
                  <a:srgbClr val="EAF4FF"/>
                </a:solidFill>
                <a:latin typeface="Arial"/>
              </a:rPr>
              <a:t>N = 200 </a:t>
            </a:r>
            <a:r>
              <a:rPr sz="2000" b="1" dirty="0" err="1">
                <a:solidFill>
                  <a:srgbClr val="EAF4FF"/>
                </a:solidFill>
                <a:latin typeface="Arial"/>
              </a:rPr>
              <a:t>меньше</a:t>
            </a:r>
            <a:r>
              <a:rPr sz="2000" b="1" dirty="0">
                <a:solidFill>
                  <a:srgbClr val="EAF4FF"/>
                </a:solidFill>
                <a:latin typeface="Arial"/>
              </a:rPr>
              <a:t> threshold: async </a:t>
            </a:r>
            <a:r>
              <a:rPr sz="2000" b="1" dirty="0" err="1">
                <a:solidFill>
                  <a:srgbClr val="EAF4FF"/>
                </a:solidFill>
                <a:latin typeface="Arial"/>
              </a:rPr>
              <a:t>не</a:t>
            </a:r>
            <a:r>
              <a:rPr sz="2000" b="1" dirty="0">
                <a:solidFill>
                  <a:srgbClr val="EAF4FF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EAF4FF"/>
                </a:solidFill>
                <a:latin typeface="Arial"/>
              </a:rPr>
              <a:t>включается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68096" y="144475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sz="1100" b="0" dirty="0" err="1">
                <a:solidFill>
                  <a:srgbClr val="9FB2C0"/>
                </a:solidFill>
                <a:latin typeface="Arial"/>
              </a:rPr>
              <a:t>Для</a:t>
            </a:r>
            <a:r>
              <a:rPr sz="1100" b="0" dirty="0">
                <a:solidFill>
                  <a:srgbClr val="9FB2C0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9FB2C0"/>
                </a:solidFill>
                <a:latin typeface="Arial"/>
              </a:rPr>
              <a:t>маленьких</a:t>
            </a:r>
            <a:r>
              <a:rPr sz="1100" b="0" dirty="0">
                <a:solidFill>
                  <a:srgbClr val="9FB2C0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9FB2C0"/>
                </a:solidFill>
                <a:latin typeface="Arial"/>
              </a:rPr>
              <a:t>данных</a:t>
            </a:r>
            <a:r>
              <a:rPr sz="1100" b="0" dirty="0">
                <a:solidFill>
                  <a:srgbClr val="9FB2C0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9FB2C0"/>
                </a:solidFill>
                <a:latin typeface="Arial"/>
              </a:rPr>
              <a:t>победа</a:t>
            </a:r>
            <a:r>
              <a:rPr sz="1100" b="0" dirty="0">
                <a:solidFill>
                  <a:srgbClr val="9FB2C0"/>
                </a:solidFill>
                <a:latin typeface="Arial"/>
              </a:rPr>
              <a:t> — </a:t>
            </a:r>
            <a:r>
              <a:rPr sz="1100" b="0" dirty="0" err="1">
                <a:solidFill>
                  <a:srgbClr val="9FB2C0"/>
                </a:solidFill>
                <a:latin typeface="Arial"/>
              </a:rPr>
              <a:t>не</a:t>
            </a:r>
            <a:r>
              <a:rPr sz="1100" b="0" dirty="0">
                <a:solidFill>
                  <a:srgbClr val="9FB2C0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9FB2C0"/>
                </a:solidFill>
                <a:latin typeface="Arial"/>
              </a:rPr>
              <a:t>запускать</a:t>
            </a:r>
            <a:r>
              <a:rPr sz="1100" b="0" dirty="0">
                <a:solidFill>
                  <a:srgbClr val="9FB2C0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9FB2C0"/>
                </a:solidFill>
                <a:latin typeface="Arial"/>
              </a:rPr>
              <a:t>многопоточность</a:t>
            </a:r>
            <a:r>
              <a:rPr sz="1100" b="0" dirty="0">
                <a:solidFill>
                  <a:srgbClr val="9FB2C0"/>
                </a:solidFill>
                <a:latin typeface="Arial"/>
              </a:rPr>
              <a:t>.</a:t>
            </a:r>
            <a:endParaRPr lang="en-US" sz="1100" dirty="0"/>
          </a:p>
        </p:txBody>
      </p:sp>
      <p:grpSp>
        <p:nvGrpSpPr>
          <p:cNvPr id="52" name="Группа 51">
            <a:extLst>
              <a:ext uri="{FF2B5EF4-FFF2-40B4-BE49-F238E27FC236}">
                <a16:creationId xmlns:a16="http://schemas.microsoft.com/office/drawing/2014/main" id="{F6218A17-46BB-429B-B4DB-D72B1191882A}"/>
              </a:ext>
            </a:extLst>
          </p:cNvPr>
          <p:cNvGrpSpPr/>
          <p:nvPr/>
        </p:nvGrpSpPr>
        <p:grpSpPr>
          <a:xfrm>
            <a:off x="140185" y="117434"/>
            <a:ext cx="420946" cy="374904"/>
            <a:chOff x="140185" y="117434"/>
            <a:chExt cx="420946" cy="374904"/>
          </a:xfrm>
        </p:grpSpPr>
        <p:sp>
          <p:nvSpPr>
            <p:cNvPr id="53" name="Shape 3">
              <a:extLst>
                <a:ext uri="{FF2B5EF4-FFF2-40B4-BE49-F238E27FC236}">
                  <a16:creationId xmlns:a16="http://schemas.microsoft.com/office/drawing/2014/main" id="{81A4C7E8-7B58-496D-B49A-0BAFB452D1FE}"/>
                </a:ext>
              </a:extLst>
            </p:cNvPr>
            <p:cNvSpPr/>
            <p:nvPr/>
          </p:nvSpPr>
          <p:spPr>
            <a:xfrm>
              <a:off x="140185" y="117434"/>
              <a:ext cx="420946" cy="374904"/>
            </a:xfrm>
            <a:prstGeom prst="roundRect">
              <a:avLst/>
            </a:prstGeom>
            <a:solidFill>
              <a:srgbClr val="1A320D">
                <a:alpha val="85000"/>
              </a:srgbClr>
            </a:solidFill>
            <a:ln w="12700">
              <a:solidFill>
                <a:srgbClr val="8AE000"/>
              </a:solidFill>
              <a:prstDash val="solid"/>
            </a:ln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54" name="Text 4">
              <a:extLst>
                <a:ext uri="{FF2B5EF4-FFF2-40B4-BE49-F238E27FC236}">
                  <a16:creationId xmlns:a16="http://schemas.microsoft.com/office/drawing/2014/main" id="{A43C4DE6-24F0-415D-85B4-6C7064FE466D}"/>
                </a:ext>
              </a:extLst>
            </p:cNvPr>
            <p:cNvSpPr/>
            <p:nvPr/>
          </p:nvSpPr>
          <p:spPr>
            <a:xfrm>
              <a:off x="185285" y="219870"/>
              <a:ext cx="330743" cy="1426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200" b="1" dirty="0">
                  <a:solidFill>
                    <a:srgbClr val="8AE00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09</a:t>
              </a:r>
              <a:endParaRPr lang="en-US" sz="1200" dirty="0"/>
            </a:p>
          </p:txBody>
        </p:sp>
      </p:grpSp>
      <p:sp>
        <p:nvSpPr>
          <p:cNvPr id="55" name="Text 6">
            <a:extLst>
              <a:ext uri="{FF2B5EF4-FFF2-40B4-BE49-F238E27FC236}">
                <a16:creationId xmlns:a16="http://schemas.microsoft.com/office/drawing/2014/main" id="{FDE6FE10-7893-47BC-9973-00581D377E78}"/>
              </a:ext>
            </a:extLst>
          </p:cNvPr>
          <p:cNvSpPr/>
          <p:nvPr/>
        </p:nvSpPr>
        <p:spPr>
          <a:xfrm>
            <a:off x="9751835" y="182880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r">
              <a:buNone/>
            </a:pPr>
            <a:r>
              <a:rPr sz="1050" b="0">
                <a:solidFill>
                  <a:srgbClr val="9FB2C0"/>
                </a:solidFill>
                <a:latin typeface="Arial"/>
              </a:rPr>
              <a:t>PARALLEL SORT</a:t>
            </a:r>
            <a:endParaRPr lang="en-US" sz="1050" dirty="0"/>
          </a:p>
        </p:txBody>
      </p:sp>
      <p:pic>
        <p:nvPicPr>
          <p:cNvPr id="57" name="Picture 56" descr="cases_fix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057400"/>
            <a:ext cx="5486400" cy="3291840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6720840" y="2057400"/>
            <a:ext cx="4114800" cy="105156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7ED1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500" b="1" dirty="0">
                <a:solidFill>
                  <a:srgbClr val="7ED10A"/>
                </a:solidFill>
                <a:latin typeface="Arial"/>
              </a:rPr>
              <a:t>Best Case</a:t>
            </a:r>
            <a:br>
              <a:rPr lang="ru-RU" sz="1500" b="1" dirty="0">
                <a:solidFill>
                  <a:srgbClr val="7ED10A"/>
                </a:solidFill>
                <a:latin typeface="Arial"/>
              </a:rPr>
            </a:br>
            <a:endParaRPr sz="1500" b="1" dirty="0">
              <a:solidFill>
                <a:srgbClr val="7ED10A"/>
              </a:solidFill>
              <a:latin typeface="Arial"/>
            </a:endParaRPr>
          </a:p>
          <a:p>
            <a:pPr algn="l"/>
            <a:r>
              <a:rPr sz="1250" b="0" dirty="0" err="1">
                <a:solidFill>
                  <a:srgbClr val="EAF4FF"/>
                </a:solidFill>
                <a:latin typeface="Arial"/>
              </a:rPr>
              <a:t>уже</a:t>
            </a:r>
            <a:r>
              <a:rPr sz="125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EAF4FF"/>
                </a:solidFill>
                <a:latin typeface="Arial"/>
              </a:rPr>
              <a:t>отсортировано</a:t>
            </a:r>
            <a:r>
              <a:rPr sz="1250" b="0" dirty="0">
                <a:solidFill>
                  <a:srgbClr val="EAF4FF"/>
                </a:solidFill>
                <a:latin typeface="Arial"/>
              </a:rPr>
              <a:t>; skip merge </a:t>
            </a:r>
            <a:r>
              <a:rPr sz="1250" b="0" dirty="0" err="1">
                <a:solidFill>
                  <a:srgbClr val="EAF4FF"/>
                </a:solidFill>
                <a:latin typeface="Arial"/>
              </a:rPr>
              <a:t>срабатывает</a:t>
            </a:r>
            <a:r>
              <a:rPr sz="125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EAF4FF"/>
                </a:solidFill>
                <a:latin typeface="Arial"/>
              </a:rPr>
              <a:t>чаще</a:t>
            </a:r>
            <a:r>
              <a:rPr sz="125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EAF4FF"/>
                </a:solidFill>
                <a:latin typeface="Arial"/>
              </a:rPr>
              <a:t>всего</a:t>
            </a:r>
            <a:r>
              <a:rPr sz="1250" b="0" dirty="0">
                <a:solidFill>
                  <a:srgbClr val="EAF4FF"/>
                </a:solidFill>
                <a:latin typeface="Arial"/>
              </a:rPr>
              <a:t>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720840" y="3401568"/>
            <a:ext cx="4114800" cy="105156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500" b="1" dirty="0">
                <a:solidFill>
                  <a:srgbClr val="FF4D6D"/>
                </a:solidFill>
                <a:latin typeface="Arial"/>
              </a:rPr>
              <a:t>Worst Case</a:t>
            </a:r>
            <a:br>
              <a:rPr lang="ru-RU" sz="1500" b="1" dirty="0">
                <a:solidFill>
                  <a:srgbClr val="FF4D6D"/>
                </a:solidFill>
                <a:latin typeface="Arial"/>
              </a:rPr>
            </a:br>
            <a:endParaRPr sz="1500" b="1" dirty="0">
              <a:solidFill>
                <a:srgbClr val="FF4D6D"/>
              </a:solidFill>
              <a:latin typeface="Arial"/>
            </a:endParaRPr>
          </a:p>
          <a:p>
            <a:pPr algn="l"/>
            <a:r>
              <a:rPr sz="1250" b="0" dirty="0" err="1">
                <a:solidFill>
                  <a:srgbClr val="EAF4FF"/>
                </a:solidFill>
                <a:latin typeface="Arial"/>
              </a:rPr>
              <a:t>обратный</a:t>
            </a:r>
            <a:r>
              <a:rPr sz="125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EAF4FF"/>
                </a:solidFill>
                <a:latin typeface="Arial"/>
              </a:rPr>
              <a:t>порядок</a:t>
            </a:r>
            <a:r>
              <a:rPr sz="1250" b="0" dirty="0">
                <a:solidFill>
                  <a:srgbClr val="EAF4FF"/>
                </a:solidFill>
                <a:latin typeface="Arial"/>
              </a:rPr>
              <a:t>; </a:t>
            </a:r>
            <a:r>
              <a:rPr sz="1250" b="0" dirty="0" err="1">
                <a:solidFill>
                  <a:srgbClr val="EAF4FF"/>
                </a:solidFill>
                <a:latin typeface="Arial"/>
              </a:rPr>
              <a:t>слияния</a:t>
            </a:r>
            <a:r>
              <a:rPr sz="125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EAF4FF"/>
                </a:solidFill>
                <a:latin typeface="Arial"/>
              </a:rPr>
              <a:t>максимально</a:t>
            </a:r>
            <a:r>
              <a:rPr sz="125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EAF4FF"/>
                </a:solidFill>
                <a:latin typeface="Arial"/>
              </a:rPr>
              <a:t>тяжёлые</a:t>
            </a:r>
            <a:r>
              <a:rPr sz="1250" b="0" dirty="0">
                <a:solidFill>
                  <a:srgbClr val="EAF4FF"/>
                </a:solidFill>
                <a:latin typeface="Arial"/>
              </a:rPr>
              <a:t>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720840" y="4736592"/>
            <a:ext cx="4114800" cy="105156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500" b="1" dirty="0" err="1">
                <a:solidFill>
                  <a:srgbClr val="46D9FF"/>
                </a:solidFill>
                <a:latin typeface="Arial"/>
              </a:rPr>
              <a:t>Главный</a:t>
            </a:r>
            <a:r>
              <a:rPr sz="1500" b="1" dirty="0">
                <a:solidFill>
                  <a:srgbClr val="46D9FF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46D9FF"/>
                </a:solidFill>
                <a:latin typeface="Arial"/>
              </a:rPr>
              <a:t>вывод</a:t>
            </a:r>
            <a:br>
              <a:rPr lang="ru-RU" sz="1500" b="1" dirty="0">
                <a:solidFill>
                  <a:srgbClr val="46D9FF"/>
                </a:solidFill>
                <a:latin typeface="Arial"/>
              </a:rPr>
            </a:br>
            <a:endParaRPr sz="1500" b="1" dirty="0">
              <a:solidFill>
                <a:srgbClr val="46D9FF"/>
              </a:solidFill>
              <a:latin typeface="Arial"/>
            </a:endParaRPr>
          </a:p>
          <a:p>
            <a:pPr algn="l"/>
            <a:r>
              <a:rPr sz="1250" b="0" dirty="0">
                <a:solidFill>
                  <a:srgbClr val="EAF4FF"/>
                </a:solidFill>
                <a:latin typeface="Arial"/>
              </a:rPr>
              <a:t>N = 200 </a:t>
            </a:r>
            <a:r>
              <a:rPr sz="1250" b="0" dirty="0" err="1">
                <a:solidFill>
                  <a:srgbClr val="EAF4FF"/>
                </a:solidFill>
                <a:latin typeface="Arial"/>
              </a:rPr>
              <a:t>меньше</a:t>
            </a:r>
            <a:r>
              <a:rPr sz="1250" b="0" dirty="0">
                <a:solidFill>
                  <a:srgbClr val="EAF4FF"/>
                </a:solidFill>
                <a:latin typeface="Arial"/>
              </a:rPr>
              <a:t> threshold, </a:t>
            </a:r>
            <a:r>
              <a:rPr sz="1250" b="0" dirty="0" err="1">
                <a:solidFill>
                  <a:srgbClr val="EAF4FF"/>
                </a:solidFill>
                <a:latin typeface="Arial"/>
              </a:rPr>
              <a:t>поэтому</a:t>
            </a:r>
            <a:r>
              <a:rPr sz="1250" b="0" dirty="0">
                <a:solidFill>
                  <a:srgbClr val="EAF4FF"/>
                </a:solidFill>
                <a:latin typeface="Arial"/>
              </a:rPr>
              <a:t> async </a:t>
            </a:r>
            <a:r>
              <a:rPr sz="1250" b="0" dirty="0" err="1">
                <a:solidFill>
                  <a:srgbClr val="EAF4FF"/>
                </a:solidFill>
                <a:latin typeface="Arial"/>
              </a:rPr>
              <a:t>не</a:t>
            </a:r>
            <a:r>
              <a:rPr sz="125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EAF4FF"/>
                </a:solidFill>
                <a:latin typeface="Arial"/>
              </a:rPr>
              <a:t>запускается</a:t>
            </a:r>
            <a:r>
              <a:rPr sz="1250" b="0" dirty="0">
                <a:solidFill>
                  <a:srgbClr val="EAF4FF"/>
                </a:solidFill>
                <a:latin typeface="Arial"/>
              </a:rPr>
              <a:t> — </a:t>
            </a:r>
            <a:r>
              <a:rPr sz="1250" b="0" dirty="0" err="1">
                <a:solidFill>
                  <a:srgbClr val="EAF4FF"/>
                </a:solidFill>
                <a:latin typeface="Arial"/>
              </a:rPr>
              <a:t>это</a:t>
            </a:r>
            <a:r>
              <a:rPr sz="125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EAF4FF"/>
                </a:solidFill>
                <a:latin typeface="Arial"/>
              </a:rPr>
              <a:t>правильное</a:t>
            </a:r>
            <a:r>
              <a:rPr sz="125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50" b="0" dirty="0" err="1">
                <a:solidFill>
                  <a:srgbClr val="EAF4FF"/>
                </a:solidFill>
                <a:latin typeface="Arial"/>
              </a:rPr>
              <a:t>поведение</a:t>
            </a:r>
            <a:r>
              <a:rPr sz="1250" b="0" dirty="0">
                <a:solidFill>
                  <a:srgbClr val="EAF4FF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E8754213-07B2-43AB-ACD3-41D78995D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30352" y="347472"/>
            <a:ext cx="11100816" cy="0"/>
          </a:xfrm>
          <a:prstGeom prst="line">
            <a:avLst/>
          </a:prstGeom>
          <a:noFill/>
          <a:ln w="12700">
            <a:solidFill>
              <a:srgbClr val="2636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30352" y="6455664"/>
            <a:ext cx="11100816" cy="0"/>
          </a:xfrm>
          <a:prstGeom prst="line">
            <a:avLst/>
          </a:prstGeom>
          <a:noFill/>
          <a:ln w="12700">
            <a:solidFill>
              <a:srgbClr val="263645">
                <a:alpha val="8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 rot="10800000">
            <a:off x="11185855" y="-1005840"/>
            <a:ext cx="2011680" cy="2011680"/>
          </a:xfrm>
          <a:prstGeom prst="arc">
            <a:avLst/>
          </a:prstGeom>
          <a:solidFill>
            <a:srgbClr val="76B900">
              <a:alpha val="8000"/>
            </a:srgbClr>
          </a:solidFill>
          <a:ln w="12700">
            <a:solidFill>
              <a:srgbClr val="76B900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49808" y="5120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sz="819" b="1">
                <a:solidFill>
                  <a:srgbClr val="7ED10A"/>
                </a:solidFill>
                <a:latin typeface="Arial"/>
              </a:rPr>
              <a:t>ЭВОЛЮЦИЯ КОДА И ПРАКТИЧЕСКИЕ ВЫВОДЫ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749808" y="786384"/>
            <a:ext cx="9015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sz="2400" b="1" dirty="0" err="1">
                <a:solidFill>
                  <a:srgbClr val="EAF4FF"/>
                </a:solidFill>
                <a:latin typeface="Arial"/>
              </a:rPr>
              <a:t>От</a:t>
            </a:r>
            <a:r>
              <a:rPr sz="2400" b="1" dirty="0">
                <a:solidFill>
                  <a:srgbClr val="EAF4FF"/>
                </a:solidFill>
                <a:latin typeface="Arial"/>
              </a:rPr>
              <a:t> naive async к </a:t>
            </a:r>
            <a:r>
              <a:rPr sz="2400" b="1" dirty="0" err="1">
                <a:solidFill>
                  <a:srgbClr val="EAF4FF"/>
                </a:solidFill>
                <a:latin typeface="Arial"/>
              </a:rPr>
              <a:t>контролируемым</a:t>
            </a:r>
            <a:r>
              <a:rPr sz="2400" b="1" dirty="0">
                <a:solidFill>
                  <a:srgbClr val="EAF4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EAF4FF"/>
                </a:solidFill>
                <a:latin typeface="Arial"/>
              </a:rPr>
              <a:t>потокам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68096" y="144475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sz="1100" b="0" dirty="0" err="1">
                <a:solidFill>
                  <a:srgbClr val="9FB2C0"/>
                </a:solidFill>
                <a:latin typeface="Arial"/>
              </a:rPr>
              <a:t>Дальше</a:t>
            </a:r>
            <a:r>
              <a:rPr sz="1100" b="0" dirty="0">
                <a:solidFill>
                  <a:srgbClr val="9FB2C0"/>
                </a:solidFill>
                <a:latin typeface="Arial"/>
              </a:rPr>
              <a:t>: thread pool, </a:t>
            </a:r>
            <a:r>
              <a:rPr sz="1100" b="0" dirty="0" err="1">
                <a:solidFill>
                  <a:srgbClr val="9FB2C0"/>
                </a:solidFill>
                <a:latin typeface="Arial"/>
              </a:rPr>
              <a:t>автонастройка</a:t>
            </a:r>
            <a:r>
              <a:rPr sz="1100" b="0" dirty="0">
                <a:solidFill>
                  <a:srgbClr val="9FB2C0"/>
                </a:solidFill>
                <a:latin typeface="Arial"/>
              </a:rPr>
              <a:t> threshold и </a:t>
            </a:r>
            <a:r>
              <a:rPr sz="1100" b="0" dirty="0" err="1">
                <a:solidFill>
                  <a:srgbClr val="9FB2C0"/>
                </a:solidFill>
                <a:latin typeface="Arial"/>
              </a:rPr>
              <a:t>строгий</a:t>
            </a:r>
            <a:r>
              <a:rPr sz="1100" b="0" dirty="0">
                <a:solidFill>
                  <a:srgbClr val="9FB2C0"/>
                </a:solidFill>
                <a:latin typeface="Arial"/>
              </a:rPr>
              <a:t> benchmark harness.</a:t>
            </a:r>
            <a:endParaRPr lang="en-US" sz="1100" dirty="0"/>
          </a:p>
        </p:txBody>
      </p:sp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8348E23E-3B61-4CA4-9830-C2FAF60628BE}"/>
              </a:ext>
            </a:extLst>
          </p:cNvPr>
          <p:cNvGrpSpPr/>
          <p:nvPr/>
        </p:nvGrpSpPr>
        <p:grpSpPr>
          <a:xfrm>
            <a:off x="140185" y="117434"/>
            <a:ext cx="420946" cy="374904"/>
            <a:chOff x="140185" y="117434"/>
            <a:chExt cx="420946" cy="374904"/>
          </a:xfrm>
        </p:grpSpPr>
        <p:sp>
          <p:nvSpPr>
            <p:cNvPr id="61" name="Shape 3">
              <a:extLst>
                <a:ext uri="{FF2B5EF4-FFF2-40B4-BE49-F238E27FC236}">
                  <a16:creationId xmlns:a16="http://schemas.microsoft.com/office/drawing/2014/main" id="{542C1AAB-653A-4E74-B19C-EBEB3FA87528}"/>
                </a:ext>
              </a:extLst>
            </p:cNvPr>
            <p:cNvSpPr/>
            <p:nvPr/>
          </p:nvSpPr>
          <p:spPr>
            <a:xfrm>
              <a:off x="140185" y="117434"/>
              <a:ext cx="420946" cy="374904"/>
            </a:xfrm>
            <a:prstGeom prst="roundRect">
              <a:avLst/>
            </a:prstGeom>
            <a:solidFill>
              <a:srgbClr val="1A320D">
                <a:alpha val="85000"/>
              </a:srgbClr>
            </a:solidFill>
            <a:ln w="12700">
              <a:solidFill>
                <a:srgbClr val="8AE000"/>
              </a:solidFill>
              <a:prstDash val="solid"/>
            </a:ln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62" name="Text 4">
              <a:extLst>
                <a:ext uri="{FF2B5EF4-FFF2-40B4-BE49-F238E27FC236}">
                  <a16:creationId xmlns:a16="http://schemas.microsoft.com/office/drawing/2014/main" id="{29FA9512-3B62-4E91-A54B-013237FEF8A5}"/>
                </a:ext>
              </a:extLst>
            </p:cNvPr>
            <p:cNvSpPr/>
            <p:nvPr/>
          </p:nvSpPr>
          <p:spPr>
            <a:xfrm>
              <a:off x="185285" y="219870"/>
              <a:ext cx="330743" cy="1426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ru-RU" sz="1200" b="1" dirty="0">
                  <a:solidFill>
                    <a:srgbClr val="8AE000"/>
                  </a:solidFill>
                  <a:latin typeface="Arial" pitchFamily="34" charset="0"/>
                  <a:cs typeface="Arial" pitchFamily="34" charset="-120"/>
                </a:rPr>
                <a:t>10</a:t>
              </a:r>
              <a:endParaRPr lang="en-US" sz="1200" dirty="0"/>
            </a:p>
          </p:txBody>
        </p:sp>
      </p:grpSp>
      <p:sp>
        <p:nvSpPr>
          <p:cNvPr id="63" name="Text 6">
            <a:extLst>
              <a:ext uri="{FF2B5EF4-FFF2-40B4-BE49-F238E27FC236}">
                <a16:creationId xmlns:a16="http://schemas.microsoft.com/office/drawing/2014/main" id="{CA08E921-252A-4AC5-A58D-2EFE9459B6DE}"/>
              </a:ext>
            </a:extLst>
          </p:cNvPr>
          <p:cNvSpPr/>
          <p:nvPr/>
        </p:nvSpPr>
        <p:spPr>
          <a:xfrm>
            <a:off x="9751835" y="182880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r">
              <a:buNone/>
            </a:pPr>
            <a:r>
              <a:rPr sz="1050" b="0">
                <a:solidFill>
                  <a:srgbClr val="9FB2C0"/>
                </a:solidFill>
                <a:latin typeface="Arial"/>
              </a:rPr>
              <a:t>PARALLEL SORT</a:t>
            </a:r>
            <a:endParaRPr lang="en-US" sz="1050" dirty="0"/>
          </a:p>
        </p:txBody>
      </p:sp>
      <p:sp>
        <p:nvSpPr>
          <p:cNvPr id="65" name="Rounded Rectangle 64"/>
          <p:cNvSpPr/>
          <p:nvPr/>
        </p:nvSpPr>
        <p:spPr>
          <a:xfrm>
            <a:off x="777240" y="2240280"/>
            <a:ext cx="2240280" cy="123444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400" b="1" dirty="0">
                <a:solidFill>
                  <a:srgbClr val="FF4D6D"/>
                </a:solidFill>
                <a:latin typeface="Arial"/>
              </a:rPr>
              <a:t>v0  naive async</a:t>
            </a:r>
            <a:br>
              <a:rPr lang="ru-RU" sz="1400" b="1" dirty="0">
                <a:solidFill>
                  <a:srgbClr val="FF4D6D"/>
                </a:solidFill>
                <a:latin typeface="Arial"/>
              </a:rPr>
            </a:br>
            <a:endParaRPr sz="1400" b="1" dirty="0">
              <a:solidFill>
                <a:srgbClr val="FF4D6D"/>
              </a:solidFill>
              <a:latin typeface="Arial"/>
            </a:endParaRPr>
          </a:p>
          <a:p>
            <a:pPr algn="l"/>
            <a:r>
              <a:rPr sz="1200" b="0" dirty="0" err="1">
                <a:solidFill>
                  <a:srgbClr val="EAF4FF"/>
                </a:solidFill>
                <a:latin typeface="Arial"/>
              </a:rPr>
              <a:t>медленнее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std::sort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3035808" y="2852928"/>
            <a:ext cx="365760" cy="0"/>
          </a:xfrm>
          <a:prstGeom prst="line">
            <a:avLst/>
          </a:prstGeom>
          <a:ln w="25400">
            <a:solidFill>
              <a:srgbClr val="9FB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3566160" y="2240280"/>
            <a:ext cx="2240280" cy="123444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7ED1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400" b="1" dirty="0">
                <a:solidFill>
                  <a:srgbClr val="7ED10A"/>
                </a:solidFill>
                <a:latin typeface="Arial"/>
              </a:rPr>
              <a:t>v1  threshold</a:t>
            </a:r>
            <a:br>
              <a:rPr lang="ru-RU" sz="1400" b="1" dirty="0">
                <a:solidFill>
                  <a:srgbClr val="7ED10A"/>
                </a:solidFill>
                <a:latin typeface="Arial"/>
              </a:rPr>
            </a:br>
            <a:endParaRPr sz="1400" b="1" dirty="0">
              <a:solidFill>
                <a:srgbClr val="7ED10A"/>
              </a:solidFill>
              <a:latin typeface="Arial"/>
            </a:endParaRPr>
          </a:p>
          <a:p>
            <a:pPr algn="l"/>
            <a:r>
              <a:rPr sz="1200" b="0" dirty="0">
                <a:solidFill>
                  <a:srgbClr val="EAF4FF"/>
                </a:solidFill>
                <a:latin typeface="Arial"/>
              </a:rPr>
              <a:t>16384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элементов</a:t>
            </a:r>
            <a:endParaRPr sz="1200" b="0" dirty="0">
              <a:solidFill>
                <a:srgbClr val="EAF4FF"/>
              </a:solidFill>
              <a:latin typeface="Arial"/>
            </a:endParaRPr>
          </a:p>
        </p:txBody>
      </p:sp>
      <p:cxnSp>
        <p:nvCxnSpPr>
          <p:cNvPr id="68" name="Connector 67"/>
          <p:cNvCxnSpPr/>
          <p:nvPr/>
        </p:nvCxnSpPr>
        <p:spPr>
          <a:xfrm>
            <a:off x="5824727" y="2852928"/>
            <a:ext cx="365761" cy="0"/>
          </a:xfrm>
          <a:prstGeom prst="line">
            <a:avLst/>
          </a:prstGeom>
          <a:ln w="25400">
            <a:solidFill>
              <a:srgbClr val="9FB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6355079" y="2240280"/>
            <a:ext cx="2240280" cy="123444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400" b="1" dirty="0">
                <a:solidFill>
                  <a:srgbClr val="46D9FF"/>
                </a:solidFill>
                <a:latin typeface="Arial"/>
              </a:rPr>
              <a:t>v2  depth control</a:t>
            </a:r>
            <a:br>
              <a:rPr lang="ru-RU" sz="1400" b="1" dirty="0">
                <a:solidFill>
                  <a:srgbClr val="46D9FF"/>
                </a:solidFill>
                <a:latin typeface="Arial"/>
              </a:rPr>
            </a:br>
            <a:endParaRPr sz="1400" b="1" dirty="0">
              <a:solidFill>
                <a:srgbClr val="46D9FF"/>
              </a:solidFill>
              <a:latin typeface="Arial"/>
            </a:endParaRPr>
          </a:p>
          <a:p>
            <a:pPr algn="l"/>
            <a:r>
              <a:rPr sz="1200" b="0" dirty="0" err="1">
                <a:solidFill>
                  <a:srgbClr val="EAF4FF"/>
                </a:solidFill>
                <a:latin typeface="Arial"/>
              </a:rPr>
              <a:t>потолок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потоков</a:t>
            </a:r>
            <a:endParaRPr sz="1200" b="0" dirty="0">
              <a:solidFill>
                <a:srgbClr val="EAF4FF"/>
              </a:solidFill>
              <a:latin typeface="Arial"/>
            </a:endParaRPr>
          </a:p>
        </p:txBody>
      </p:sp>
      <p:cxnSp>
        <p:nvCxnSpPr>
          <p:cNvPr id="70" name="Connector 69"/>
          <p:cNvCxnSpPr/>
          <p:nvPr/>
        </p:nvCxnSpPr>
        <p:spPr>
          <a:xfrm>
            <a:off x="8613648" y="2852928"/>
            <a:ext cx="365760" cy="0"/>
          </a:xfrm>
          <a:prstGeom prst="line">
            <a:avLst/>
          </a:prstGeom>
          <a:ln w="25400">
            <a:solidFill>
              <a:srgbClr val="9FB2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9143999" y="2240280"/>
            <a:ext cx="2240280" cy="123444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FFD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400" b="1" dirty="0">
                <a:solidFill>
                  <a:srgbClr val="FFD24D"/>
                </a:solidFill>
                <a:latin typeface="Arial"/>
              </a:rPr>
              <a:t>v3  production style</a:t>
            </a:r>
            <a:br>
              <a:rPr lang="ru-RU" sz="1400" b="1" dirty="0">
                <a:solidFill>
                  <a:srgbClr val="FFD24D"/>
                </a:solidFill>
                <a:latin typeface="Arial"/>
              </a:rPr>
            </a:br>
            <a:endParaRPr sz="1400" b="1" dirty="0">
              <a:solidFill>
                <a:srgbClr val="FFD24D"/>
              </a:solidFill>
              <a:latin typeface="Arial"/>
            </a:endParaRPr>
          </a:p>
          <a:p>
            <a:pPr algn="l"/>
            <a:r>
              <a:rPr sz="1200" b="0" dirty="0">
                <a:solidFill>
                  <a:srgbClr val="EAF4FF"/>
                </a:solidFill>
                <a:latin typeface="Arial"/>
              </a:rPr>
              <a:t>buffer_ + skip merge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77240" y="4251960"/>
            <a:ext cx="9875520" cy="146304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7ED1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500" b="1" dirty="0" err="1">
                <a:solidFill>
                  <a:srgbClr val="7ED10A"/>
                </a:solidFill>
                <a:latin typeface="Arial"/>
              </a:rPr>
              <a:t>Что</a:t>
            </a:r>
            <a:r>
              <a:rPr sz="1500" b="1" dirty="0">
                <a:solidFill>
                  <a:srgbClr val="7ED10A"/>
                </a:solidFill>
                <a:latin typeface="Arial"/>
              </a:rPr>
              <a:t> </a:t>
            </a:r>
            <a:r>
              <a:rPr lang="ru-RU" sz="1500" b="1" dirty="0">
                <a:solidFill>
                  <a:srgbClr val="7ED10A"/>
                </a:solidFill>
                <a:latin typeface="Arial"/>
              </a:rPr>
              <a:t>мы</a:t>
            </a:r>
            <a:r>
              <a:rPr sz="1500" b="1" dirty="0">
                <a:solidFill>
                  <a:srgbClr val="7ED10A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7ED10A"/>
                </a:solidFill>
                <a:latin typeface="Arial"/>
              </a:rPr>
              <a:t>узнал</a:t>
            </a:r>
            <a:r>
              <a:rPr lang="ru-RU" sz="1500" b="1" dirty="0">
                <a:solidFill>
                  <a:srgbClr val="7ED10A"/>
                </a:solidFill>
                <a:latin typeface="Arial"/>
              </a:rPr>
              <a:t>и</a:t>
            </a:r>
            <a:br>
              <a:rPr lang="ru-RU" sz="1500" b="1" dirty="0">
                <a:solidFill>
                  <a:srgbClr val="7ED10A"/>
                </a:solidFill>
                <a:latin typeface="Arial"/>
              </a:rPr>
            </a:br>
            <a:endParaRPr sz="1500" b="1" dirty="0">
              <a:solidFill>
                <a:srgbClr val="7ED10A"/>
              </a:solidFill>
              <a:latin typeface="Arial"/>
            </a:endParaRPr>
          </a:p>
          <a:p>
            <a:pPr algn="l"/>
            <a:r>
              <a:rPr sz="1300" b="0" dirty="0">
                <a:solidFill>
                  <a:srgbClr val="EAF4FF"/>
                </a:solidFill>
                <a:latin typeface="Arial"/>
              </a:rPr>
              <a:t>1)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Многопоточность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≠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быстрее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без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профилирования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.</a:t>
            </a:r>
          </a:p>
          <a:p>
            <a:pPr algn="l"/>
            <a:r>
              <a:rPr sz="1300" b="0" dirty="0">
                <a:solidFill>
                  <a:srgbClr val="EAF4FF"/>
                </a:solidFill>
                <a:latin typeface="Arial"/>
              </a:rPr>
              <a:t>2)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Кэш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процессора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важнее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количества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ядер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.</a:t>
            </a:r>
          </a:p>
          <a:p>
            <a:pPr algn="l"/>
            <a:r>
              <a:rPr sz="1300" b="0" dirty="0">
                <a:solidFill>
                  <a:srgbClr val="EAF4FF"/>
                </a:solidFill>
                <a:latin typeface="Arial"/>
              </a:rPr>
              <a:t>3) std::sort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не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надо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заменять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на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малых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данных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8D4067C3-BE81-4888-BF31-51A600844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30352" y="347472"/>
            <a:ext cx="11100816" cy="0"/>
          </a:xfrm>
          <a:prstGeom prst="line">
            <a:avLst/>
          </a:prstGeom>
          <a:noFill/>
          <a:ln w="12700">
            <a:solidFill>
              <a:srgbClr val="2636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30352" y="6455664"/>
            <a:ext cx="11100816" cy="0"/>
          </a:xfrm>
          <a:prstGeom prst="line">
            <a:avLst/>
          </a:prstGeom>
          <a:noFill/>
          <a:ln w="12700">
            <a:solidFill>
              <a:srgbClr val="263645">
                <a:alpha val="8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 rot="10800000">
            <a:off x="11192256" y="-1005840"/>
            <a:ext cx="2011680" cy="2011680"/>
          </a:xfrm>
          <a:prstGeom prst="arc">
            <a:avLst/>
          </a:prstGeom>
          <a:solidFill>
            <a:srgbClr val="76B900">
              <a:alpha val="8000"/>
            </a:srgbClr>
          </a:solidFill>
          <a:ln w="12700">
            <a:solidFill>
              <a:srgbClr val="76B900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49808" y="5120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 lnSpcReduction="10000"/>
          </a:bodyPr>
          <a:lstStyle/>
          <a:p>
            <a:pPr marL="0" indent="0" algn="l">
              <a:buNone/>
            </a:pPr>
            <a:r>
              <a:rPr sz="1400" b="1">
                <a:solidFill>
                  <a:srgbClr val="7CDF00"/>
                </a:solidFill>
                <a:latin typeface="Aptos"/>
              </a:rPr>
              <a:t>ВИЗУАЛИЗАЦИЯ МАССИВА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749808" y="786384"/>
            <a:ext cx="9015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7500"/>
          </a:bodyPr>
          <a:lstStyle/>
          <a:p>
            <a:pPr marL="0" indent="0" algn="l">
              <a:buNone/>
            </a:pPr>
            <a:r>
              <a:rPr sz="2700" b="1">
                <a:solidFill>
                  <a:srgbClr val="F0F5FA"/>
                </a:solidFill>
                <a:latin typeface="Aptos"/>
              </a:rPr>
              <a:t>График массива до сортировки и график массива после сортировки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768096" y="144475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sz="1600" b="0">
                <a:solidFill>
                  <a:srgbClr val="AAB9CD"/>
                </a:solidFill>
                <a:latin typeface="Aptos"/>
              </a:rPr>
              <a:t>Один и тот же набор данных: слева исходный порядок, справа результат работы merge sort.</a:t>
            </a:r>
            <a:endParaRPr lang="en-US" sz="1200" dirty="0"/>
          </a:p>
        </p:txBody>
      </p: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C830652D-B5D7-4D8C-B6CF-3450CBDBA2D2}"/>
              </a:ext>
            </a:extLst>
          </p:cNvPr>
          <p:cNvGrpSpPr/>
          <p:nvPr/>
        </p:nvGrpSpPr>
        <p:grpSpPr>
          <a:xfrm>
            <a:off x="140185" y="117434"/>
            <a:ext cx="420946" cy="374904"/>
            <a:chOff x="140185" y="117434"/>
            <a:chExt cx="420946" cy="374904"/>
          </a:xfrm>
        </p:grpSpPr>
        <p:sp>
          <p:nvSpPr>
            <p:cNvPr id="49" name="Shape 3">
              <a:extLst>
                <a:ext uri="{FF2B5EF4-FFF2-40B4-BE49-F238E27FC236}">
                  <a16:creationId xmlns:a16="http://schemas.microsoft.com/office/drawing/2014/main" id="{4E0C490F-996B-4D2B-80FE-078A1DBE6677}"/>
                </a:ext>
              </a:extLst>
            </p:cNvPr>
            <p:cNvSpPr/>
            <p:nvPr/>
          </p:nvSpPr>
          <p:spPr>
            <a:xfrm>
              <a:off x="140185" y="117434"/>
              <a:ext cx="420946" cy="374904"/>
            </a:xfrm>
            <a:prstGeom prst="roundRect">
              <a:avLst/>
            </a:prstGeom>
            <a:solidFill>
              <a:srgbClr val="1A320D">
                <a:alpha val="85000"/>
              </a:srgbClr>
            </a:solidFill>
            <a:ln w="12700">
              <a:solidFill>
                <a:srgbClr val="8AE000"/>
              </a:solidFill>
              <a:prstDash val="solid"/>
            </a:ln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50" name="Text 4">
              <a:extLst>
                <a:ext uri="{FF2B5EF4-FFF2-40B4-BE49-F238E27FC236}">
                  <a16:creationId xmlns:a16="http://schemas.microsoft.com/office/drawing/2014/main" id="{960424ED-B332-4ED0-A273-6DC4E8E9873B}"/>
                </a:ext>
              </a:extLst>
            </p:cNvPr>
            <p:cNvSpPr/>
            <p:nvPr/>
          </p:nvSpPr>
          <p:spPr>
            <a:xfrm>
              <a:off x="185285" y="219870"/>
              <a:ext cx="330743" cy="1426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ru-RU" sz="1200" b="1" dirty="0">
                  <a:solidFill>
                    <a:srgbClr val="8AE000"/>
                  </a:solidFill>
                  <a:latin typeface="Arial" pitchFamily="34" charset="0"/>
                  <a:cs typeface="Arial" pitchFamily="34" charset="-120"/>
                </a:rPr>
                <a:t>11</a:t>
              </a:r>
              <a:endParaRPr lang="en-US" sz="1200" dirty="0"/>
            </a:p>
          </p:txBody>
        </p:sp>
      </p:grpSp>
      <p:sp>
        <p:nvSpPr>
          <p:cNvPr id="53" name="Text 6">
            <a:extLst>
              <a:ext uri="{FF2B5EF4-FFF2-40B4-BE49-F238E27FC236}">
                <a16:creationId xmlns:a16="http://schemas.microsoft.com/office/drawing/2014/main" id="{72FF7D92-8A8D-4408-945D-084AF2EC5967}"/>
              </a:ext>
            </a:extLst>
          </p:cNvPr>
          <p:cNvSpPr/>
          <p:nvPr/>
        </p:nvSpPr>
        <p:spPr>
          <a:xfrm>
            <a:off x="9751835" y="182880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r">
              <a:buNone/>
            </a:pPr>
            <a:r>
              <a:rPr sz="1050" b="0">
                <a:solidFill>
                  <a:srgbClr val="9FB2C0"/>
                </a:solidFill>
                <a:latin typeface="Arial"/>
              </a:rPr>
              <a:t>PARALLEL SORT</a:t>
            </a:r>
            <a:endParaRPr lang="en-US" sz="1050" dirty="0"/>
          </a:p>
        </p:txBody>
      </p:sp>
      <p:pic>
        <p:nvPicPr>
          <p:cNvPr id="55" name="Picture 54" descr="array_bef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057400"/>
            <a:ext cx="4892040" cy="2752344"/>
          </a:xfrm>
          <a:prstGeom prst="rect">
            <a:avLst/>
          </a:prstGeom>
        </p:spPr>
      </p:pic>
      <p:pic>
        <p:nvPicPr>
          <p:cNvPr id="56" name="Picture 55" descr="array_af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057400"/>
            <a:ext cx="4892040" cy="2752344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68680" y="5440680"/>
            <a:ext cx="10241280" cy="411480"/>
          </a:xfrm>
          <a:prstGeom prst="rect">
            <a:avLst/>
          </a:prstGeom>
          <a:solidFill>
            <a:srgbClr val="061C2F"/>
          </a:solidFill>
          <a:ln w="19050">
            <a:solidFill>
              <a:srgbClr val="FFD14A"/>
            </a:solidFill>
          </a:ln>
        </p:spPr>
        <p:txBody>
          <a:bodyPr wrap="none" lIns="152400" tIns="76200">
            <a:spAutoFit/>
          </a:bodyPr>
          <a:lstStyle/>
          <a:p>
            <a:r>
              <a:rPr sz="1300">
                <a:solidFill>
                  <a:srgbClr val="F0F5FA"/>
                </a:solidFill>
                <a:latin typeface="Aptos"/>
              </a:rPr>
              <a:t>Тестовый набор: 16 значений, использован как наглядный пример для визуализации состояния массива.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Aptos"/>
              </a:rPr>
              <a:t>Блок-схема алгоритма Parallel Merge Sort / sort_impl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103620" y="877824"/>
            <a:ext cx="0" cy="128016"/>
          </a:xfrm>
          <a:prstGeom prst="line">
            <a:avLst/>
          </a:prstGeom>
          <a:ln w="1524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>
            <a:endCxn id="36" idx="0"/>
          </p:cNvCxnSpPr>
          <p:nvPr/>
        </p:nvCxnSpPr>
        <p:spPr>
          <a:xfrm>
            <a:off x="6094730" y="1408176"/>
            <a:ext cx="8890" cy="219075"/>
          </a:xfrm>
          <a:prstGeom prst="line">
            <a:avLst/>
          </a:prstGeom>
          <a:ln w="1524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112764" y="2157984"/>
            <a:ext cx="0" cy="173736"/>
          </a:xfrm>
          <a:prstGeom prst="line">
            <a:avLst/>
          </a:prstGeom>
          <a:ln w="1524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>
            <a:endCxn id="39" idx="0"/>
          </p:cNvCxnSpPr>
          <p:nvPr/>
        </p:nvCxnSpPr>
        <p:spPr>
          <a:xfrm flipH="1">
            <a:off x="6103874" y="2926079"/>
            <a:ext cx="8890" cy="155575"/>
          </a:xfrm>
          <a:prstGeom prst="line">
            <a:avLst/>
          </a:prstGeom>
          <a:ln w="1524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>
            <a:stCxn id="39" idx="2"/>
            <a:endCxn id="40" idx="0"/>
          </p:cNvCxnSpPr>
          <p:nvPr/>
        </p:nvCxnSpPr>
        <p:spPr>
          <a:xfrm flipH="1">
            <a:off x="6100445" y="3538728"/>
            <a:ext cx="3175" cy="191770"/>
          </a:xfrm>
          <a:prstGeom prst="line">
            <a:avLst/>
          </a:prstGeom>
          <a:ln w="1524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232904" y="1892807"/>
            <a:ext cx="2916936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149840" y="1892807"/>
            <a:ext cx="0" cy="397764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154680" y="2628900"/>
            <a:ext cx="1746504" cy="32004"/>
          </a:xfrm>
          <a:prstGeom prst="line">
            <a:avLst/>
          </a:prstGeom>
          <a:ln w="1524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502920" y="2660904"/>
            <a:ext cx="41148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20" y="2660904"/>
            <a:ext cx="0" cy="3410712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02920" y="6071616"/>
            <a:ext cx="10241280" cy="0"/>
          </a:xfrm>
          <a:prstGeom prst="line">
            <a:avLst/>
          </a:prstGeom>
          <a:ln w="1524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788920" y="3995928"/>
            <a:ext cx="2441448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788920" y="3995928"/>
            <a:ext cx="0" cy="448056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697480" y="4443984"/>
            <a:ext cx="91440" cy="0"/>
          </a:xfrm>
          <a:prstGeom prst="line">
            <a:avLst/>
          </a:prstGeom>
          <a:ln w="1524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013448" y="3995928"/>
            <a:ext cx="2313432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26880" y="3995928"/>
            <a:ext cx="0" cy="447675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9308592" y="4443984"/>
            <a:ext cx="18288" cy="0"/>
          </a:xfrm>
          <a:prstGeom prst="line">
            <a:avLst/>
          </a:prstGeom>
          <a:ln w="1524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057525" y="5138928"/>
            <a:ext cx="0" cy="118872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57525" y="5257800"/>
            <a:ext cx="1377315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434840" y="5257800"/>
            <a:ext cx="0" cy="292608"/>
          </a:xfrm>
          <a:prstGeom prst="line">
            <a:avLst/>
          </a:prstGeom>
          <a:ln w="1524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308592" y="5138928"/>
            <a:ext cx="0" cy="118872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7680959" y="5257800"/>
            <a:ext cx="1627633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680959" y="5257800"/>
            <a:ext cx="0" cy="292608"/>
          </a:xfrm>
          <a:prstGeom prst="line">
            <a:avLst/>
          </a:prstGeom>
          <a:ln w="1524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57900" y="5733288"/>
            <a:ext cx="0" cy="73152"/>
          </a:xfrm>
          <a:prstGeom prst="line">
            <a:avLst/>
          </a:prstGeom>
          <a:ln w="1524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223759" y="6071616"/>
            <a:ext cx="594361" cy="18288"/>
          </a:xfrm>
          <a:prstGeom prst="line">
            <a:avLst/>
          </a:prstGeom>
          <a:ln w="1524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0287000" y="6071616"/>
            <a:ext cx="457200" cy="18288"/>
          </a:xfrm>
          <a:prstGeom prst="line">
            <a:avLst/>
          </a:prstGeom>
          <a:ln w="1524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57900" y="6336792"/>
            <a:ext cx="0" cy="155448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057900" y="6492240"/>
            <a:ext cx="409194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0149840" y="6071616"/>
            <a:ext cx="0" cy="420624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149840" y="6071616"/>
            <a:ext cx="594360" cy="0"/>
          </a:xfrm>
          <a:prstGeom prst="line">
            <a:avLst/>
          </a:prstGeom>
          <a:ln w="15240">
            <a:solidFill>
              <a:srgbClr val="0000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5577840" y="566928"/>
            <a:ext cx="1051560" cy="31089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>
            <a:norm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ptos"/>
              </a:rPr>
              <a:t>начало</a:t>
            </a:r>
          </a:p>
        </p:txBody>
      </p:sp>
      <p:sp>
        <p:nvSpPr>
          <p:cNvPr id="35" name="Parallelogram 34"/>
          <p:cNvSpPr/>
          <p:nvPr/>
        </p:nvSpPr>
        <p:spPr>
          <a:xfrm>
            <a:off x="4552315" y="1005840"/>
            <a:ext cx="2965450" cy="402590"/>
          </a:xfrm>
          <a:prstGeom prst="parallelogram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>
            <a:norm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ptos"/>
              </a:rPr>
              <a:t>ввод: массив A, left, right, threshold, depth</a:t>
            </a:r>
          </a:p>
        </p:txBody>
      </p:sp>
      <p:sp>
        <p:nvSpPr>
          <p:cNvPr id="36" name="Diamond 35"/>
          <p:cNvSpPr/>
          <p:nvPr/>
        </p:nvSpPr>
        <p:spPr>
          <a:xfrm>
            <a:off x="4983734" y="1627632"/>
            <a:ext cx="2240280" cy="530352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>
            <a:normAutofit/>
          </a:bodyPr>
          <a:lstStyle/>
          <a:p>
            <a:pPr algn="ctr"/>
            <a:r>
              <a:rPr sz="880" b="0">
                <a:solidFill>
                  <a:srgbClr val="000000"/>
                </a:solidFill>
                <a:latin typeface="Aptos"/>
              </a:rPr>
              <a:t>left ≥ right?</a:t>
            </a:r>
          </a:p>
        </p:txBody>
      </p:sp>
      <p:sp>
        <p:nvSpPr>
          <p:cNvPr id="37" name="Diamond 36"/>
          <p:cNvSpPr/>
          <p:nvPr/>
        </p:nvSpPr>
        <p:spPr>
          <a:xfrm>
            <a:off x="4901184" y="2331720"/>
            <a:ext cx="2423160" cy="594360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>
            <a:norm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ptos"/>
              </a:rPr>
              <a:t>right - left ≤ threshold?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2432304"/>
            <a:ext cx="2240280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>
            <a:norm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Aptos"/>
              </a:rPr>
              <a:t>std::sort(A[left..right])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0" y="3081528"/>
            <a:ext cx="3429000" cy="4572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>
            <a:norm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Aptos"/>
              </a:rPr>
              <a:t>mid = left + (right - left) / 2</a:t>
            </a:r>
          </a:p>
        </p:txBody>
      </p:sp>
      <p:sp>
        <p:nvSpPr>
          <p:cNvPr id="40" name="Diamond 39"/>
          <p:cNvSpPr/>
          <p:nvPr/>
        </p:nvSpPr>
        <p:spPr>
          <a:xfrm>
            <a:off x="5208778" y="3730752"/>
            <a:ext cx="1783080" cy="530352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>
            <a:norm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Aptos"/>
              </a:rPr>
              <a:t>depth &gt; 0?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561465" y="4443984"/>
            <a:ext cx="3840480" cy="694944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>
            <a:normAutofit/>
          </a:bodyPr>
          <a:lstStyle/>
          <a:p>
            <a:pPr algn="ctr"/>
            <a:r>
              <a:rPr sz="720" b="0">
                <a:solidFill>
                  <a:srgbClr val="000000"/>
                </a:solidFill>
                <a:latin typeface="Aptos"/>
              </a:rPr>
              <a:t>async: sort_impl(left, mid, depth - 1)
+ sort_impl(mid + 1, right, depth - 1)
затем left_future.get()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32447" y="4444619"/>
            <a:ext cx="3657600" cy="694944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>
            <a:normAutofit/>
          </a:bodyPr>
          <a:lstStyle/>
          <a:p>
            <a:pPr algn="ctr"/>
            <a:r>
              <a:rPr sz="720" b="0">
                <a:solidFill>
                  <a:srgbClr val="000000"/>
                </a:solidFill>
                <a:latin typeface="Aptos"/>
              </a:rPr>
              <a:t>синхронно:
sort_impl(left, mid, 0)
+ sort_impl(mid + 1, right, 0)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5140" y="5367655"/>
            <a:ext cx="3629660" cy="3657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>
            <a:normAutofit/>
          </a:bodyPr>
          <a:lstStyle/>
          <a:p>
            <a:pPr algn="ctr"/>
            <a:r>
              <a:rPr sz="820" b="0">
                <a:solidFill>
                  <a:srgbClr val="000000"/>
                </a:solidFill>
                <a:latin typeface="Aptos"/>
              </a:rPr>
              <a:t>половины отсортированы</a:t>
            </a:r>
          </a:p>
        </p:txBody>
      </p:sp>
      <p:sp>
        <p:nvSpPr>
          <p:cNvPr id="44" name="Diamond 43"/>
          <p:cNvSpPr/>
          <p:nvPr/>
        </p:nvSpPr>
        <p:spPr>
          <a:xfrm>
            <a:off x="4892040" y="5806440"/>
            <a:ext cx="2331720" cy="530352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>
            <a:normAutofit/>
          </a:bodyPr>
          <a:lstStyle/>
          <a:p>
            <a:pPr algn="ctr"/>
            <a:r>
              <a:rPr sz="780" b="0">
                <a:solidFill>
                  <a:srgbClr val="000000"/>
                </a:solidFill>
                <a:latin typeface="Aptos"/>
              </a:rPr>
              <a:t>A[mid] ≤ A[mid + 1]?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18120" y="5870448"/>
            <a:ext cx="246888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>
            <a:normAutofit/>
          </a:bodyPr>
          <a:lstStyle/>
          <a:p>
            <a:pPr algn="ctr"/>
            <a:r>
              <a:rPr sz="720" b="0">
                <a:solidFill>
                  <a:srgbClr val="000000"/>
                </a:solidFill>
                <a:latin typeface="Aptos"/>
              </a:rPr>
              <a:t>merge(A, left, mid, right)
buffer_</a:t>
            </a:r>
          </a:p>
        </p:txBody>
      </p:sp>
      <p:sp>
        <p:nvSpPr>
          <p:cNvPr id="46" name="Oval 45"/>
          <p:cNvSpPr/>
          <p:nvPr/>
        </p:nvSpPr>
        <p:spPr>
          <a:xfrm>
            <a:off x="10744200" y="5897880"/>
            <a:ext cx="914400" cy="34747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>
            <a:normAutofit/>
          </a:bodyPr>
          <a:lstStyle/>
          <a:p>
            <a:pPr algn="ctr"/>
            <a:r>
              <a:rPr sz="830" b="1">
                <a:solidFill>
                  <a:srgbClr val="000000"/>
                </a:solidFill>
                <a:latin typeface="Aptos"/>
              </a:rPr>
              <a:t>конец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96912" y="1664208"/>
            <a:ext cx="347472" cy="1554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Aptos"/>
              </a:rPr>
              <a:t>да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82512" y="2194560"/>
            <a:ext cx="347472" cy="1554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Aptos"/>
              </a:rPr>
              <a:t>нет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87952" y="2359152"/>
            <a:ext cx="347472" cy="1554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Aptos"/>
              </a:rPr>
              <a:t>да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2953512"/>
            <a:ext cx="347472" cy="1554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Aptos"/>
              </a:rPr>
              <a:t>нет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749039" y="3749039"/>
            <a:ext cx="347472" cy="1554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Aptos"/>
              </a:rPr>
              <a:t>да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0" y="3749039"/>
            <a:ext cx="347472" cy="1554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Aptos"/>
              </a:rPr>
              <a:t>нет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51775" y="5806440"/>
            <a:ext cx="347472" cy="1554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Aptos"/>
              </a:rPr>
              <a:t>да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53912" y="6345936"/>
            <a:ext cx="347472" cy="155448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Aptos"/>
              </a:rPr>
              <a:t>нет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8D4067C3-BE81-4888-BF31-51A600844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30352" y="347472"/>
            <a:ext cx="11100816" cy="0"/>
          </a:xfrm>
          <a:prstGeom prst="line">
            <a:avLst/>
          </a:prstGeom>
          <a:noFill/>
          <a:ln w="12700">
            <a:solidFill>
              <a:srgbClr val="2636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30352" y="6455664"/>
            <a:ext cx="11100816" cy="0"/>
          </a:xfrm>
          <a:prstGeom prst="line">
            <a:avLst/>
          </a:prstGeom>
          <a:noFill/>
          <a:ln w="12700">
            <a:solidFill>
              <a:srgbClr val="263645">
                <a:alpha val="8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 rot="10800000">
            <a:off x="11192256" y="-1005840"/>
            <a:ext cx="2011680" cy="2011680"/>
          </a:xfrm>
          <a:prstGeom prst="arc">
            <a:avLst/>
          </a:prstGeom>
          <a:solidFill>
            <a:srgbClr val="76B900">
              <a:alpha val="8000"/>
            </a:srgbClr>
          </a:solidFill>
          <a:ln w="12700">
            <a:solidFill>
              <a:srgbClr val="76B900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49808" y="51206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sz="819" b="1">
                <a:solidFill>
                  <a:srgbClr val="7ED10A"/>
                </a:solidFill>
                <a:latin typeface="Arial"/>
              </a:rPr>
              <a:t>ФИНАЛЬНЫЙ ВЫВОД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749808" y="786384"/>
            <a:ext cx="90159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sz="2400" b="1" dirty="0" err="1">
                <a:solidFill>
                  <a:srgbClr val="EAF4FF"/>
                </a:solidFill>
                <a:latin typeface="Arial"/>
              </a:rPr>
              <a:t>Потоков</a:t>
            </a:r>
            <a:r>
              <a:rPr sz="2400" b="1" dirty="0">
                <a:solidFill>
                  <a:srgbClr val="EAF4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EAF4FF"/>
                </a:solidFill>
                <a:latin typeface="Arial"/>
              </a:rPr>
              <a:t>стало</a:t>
            </a:r>
            <a:r>
              <a:rPr sz="2400" b="1" dirty="0">
                <a:solidFill>
                  <a:srgbClr val="EAF4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EAF4FF"/>
                </a:solidFill>
                <a:latin typeface="Arial"/>
              </a:rPr>
              <a:t>ровно</a:t>
            </a:r>
            <a:r>
              <a:rPr sz="2400" b="1" dirty="0">
                <a:solidFill>
                  <a:srgbClr val="EAF4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EAF4FF"/>
                </a:solidFill>
                <a:latin typeface="Arial"/>
              </a:rPr>
              <a:t>столько</a:t>
            </a:r>
            <a:r>
              <a:rPr sz="2400" b="1" dirty="0">
                <a:solidFill>
                  <a:srgbClr val="EAF4FF"/>
                </a:solidFill>
                <a:latin typeface="Arial"/>
              </a:rPr>
              <a:t>, </a:t>
            </a:r>
            <a:r>
              <a:rPr sz="2400" b="1" dirty="0" err="1">
                <a:solidFill>
                  <a:srgbClr val="EAF4FF"/>
                </a:solidFill>
                <a:latin typeface="Arial"/>
              </a:rPr>
              <a:t>сколько</a:t>
            </a:r>
            <a:r>
              <a:rPr sz="2400" b="1" dirty="0">
                <a:solidFill>
                  <a:srgbClr val="EAF4FF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EAF4FF"/>
                </a:solidFill>
                <a:latin typeface="Arial"/>
              </a:rPr>
              <a:t>окупается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68096" y="144475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l">
              <a:buNone/>
            </a:pPr>
            <a:r>
              <a:rPr sz="1100" b="0" dirty="0" err="1">
                <a:solidFill>
                  <a:srgbClr val="9FB2C0"/>
                </a:solidFill>
                <a:latin typeface="Arial"/>
              </a:rPr>
              <a:t>Готов</a:t>
            </a:r>
            <a:r>
              <a:rPr sz="1100" b="0" dirty="0">
                <a:solidFill>
                  <a:srgbClr val="9FB2C0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9FB2C0"/>
                </a:solidFill>
                <a:latin typeface="Arial"/>
              </a:rPr>
              <a:t>показать</a:t>
            </a:r>
            <a:r>
              <a:rPr sz="1100" b="0" dirty="0">
                <a:solidFill>
                  <a:srgbClr val="9FB2C0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9FB2C0"/>
                </a:solidFill>
                <a:latin typeface="Arial"/>
              </a:rPr>
              <a:t>код</a:t>
            </a:r>
            <a:r>
              <a:rPr sz="1100" b="0" dirty="0">
                <a:solidFill>
                  <a:srgbClr val="9FB2C0"/>
                </a:solidFill>
                <a:latin typeface="Arial"/>
              </a:rPr>
              <a:t>, </a:t>
            </a:r>
            <a:r>
              <a:rPr sz="1100" b="0" dirty="0" err="1">
                <a:solidFill>
                  <a:srgbClr val="9FB2C0"/>
                </a:solidFill>
                <a:latin typeface="Arial"/>
              </a:rPr>
              <a:t>бенчмарки</a:t>
            </a:r>
            <a:r>
              <a:rPr sz="1100" b="0" dirty="0">
                <a:solidFill>
                  <a:srgbClr val="9FB2C0"/>
                </a:solidFill>
                <a:latin typeface="Arial"/>
              </a:rPr>
              <a:t> и </a:t>
            </a:r>
            <a:r>
              <a:rPr sz="1100" b="0" dirty="0" err="1">
                <a:solidFill>
                  <a:srgbClr val="9FB2C0"/>
                </a:solidFill>
                <a:latin typeface="Arial"/>
              </a:rPr>
              <a:t>обсудить</a:t>
            </a:r>
            <a:r>
              <a:rPr sz="1100" b="0" dirty="0">
                <a:solidFill>
                  <a:srgbClr val="9FB2C0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9FB2C0"/>
                </a:solidFill>
                <a:latin typeface="Arial"/>
              </a:rPr>
              <a:t>компромиссы</a:t>
            </a:r>
            <a:r>
              <a:rPr sz="1100" b="0" dirty="0">
                <a:solidFill>
                  <a:srgbClr val="9FB2C0"/>
                </a:solidFill>
                <a:latin typeface="Arial"/>
              </a:rPr>
              <a:t> </a:t>
            </a:r>
            <a:r>
              <a:rPr sz="1100" b="0" dirty="0" err="1">
                <a:solidFill>
                  <a:srgbClr val="9FB2C0"/>
                </a:solidFill>
                <a:latin typeface="Arial"/>
              </a:rPr>
              <a:t>реализации</a:t>
            </a:r>
            <a:r>
              <a:rPr sz="1100" b="0" dirty="0">
                <a:solidFill>
                  <a:srgbClr val="9FB2C0"/>
                </a:solidFill>
                <a:latin typeface="Arial"/>
              </a:rPr>
              <a:t>.</a:t>
            </a:r>
            <a:endParaRPr lang="en-US" sz="1100" dirty="0"/>
          </a:p>
        </p:txBody>
      </p: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C830652D-B5D7-4D8C-B6CF-3450CBDBA2D2}"/>
              </a:ext>
            </a:extLst>
          </p:cNvPr>
          <p:cNvGrpSpPr/>
          <p:nvPr/>
        </p:nvGrpSpPr>
        <p:grpSpPr>
          <a:xfrm>
            <a:off x="140185" y="117434"/>
            <a:ext cx="420946" cy="374904"/>
            <a:chOff x="140185" y="117434"/>
            <a:chExt cx="420946" cy="374904"/>
          </a:xfrm>
        </p:grpSpPr>
        <p:sp>
          <p:nvSpPr>
            <p:cNvPr id="49" name="Shape 3">
              <a:extLst>
                <a:ext uri="{FF2B5EF4-FFF2-40B4-BE49-F238E27FC236}">
                  <a16:creationId xmlns:a16="http://schemas.microsoft.com/office/drawing/2014/main" id="{4E0C490F-996B-4D2B-80FE-078A1DBE6677}"/>
                </a:ext>
              </a:extLst>
            </p:cNvPr>
            <p:cNvSpPr/>
            <p:nvPr/>
          </p:nvSpPr>
          <p:spPr>
            <a:xfrm>
              <a:off x="140185" y="117434"/>
              <a:ext cx="420946" cy="374904"/>
            </a:xfrm>
            <a:prstGeom prst="roundRect">
              <a:avLst/>
            </a:prstGeom>
            <a:solidFill>
              <a:srgbClr val="1A320D">
                <a:alpha val="85000"/>
              </a:srgbClr>
            </a:solidFill>
            <a:ln w="12700">
              <a:solidFill>
                <a:srgbClr val="8AE000"/>
              </a:solidFill>
              <a:prstDash val="solid"/>
            </a:ln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50" name="Text 4">
              <a:extLst>
                <a:ext uri="{FF2B5EF4-FFF2-40B4-BE49-F238E27FC236}">
                  <a16:creationId xmlns:a16="http://schemas.microsoft.com/office/drawing/2014/main" id="{960424ED-B332-4ED0-A273-6DC4E8E9873B}"/>
                </a:ext>
              </a:extLst>
            </p:cNvPr>
            <p:cNvSpPr/>
            <p:nvPr/>
          </p:nvSpPr>
          <p:spPr>
            <a:xfrm>
              <a:off x="185285" y="219870"/>
              <a:ext cx="330743" cy="1426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ru-RU" sz="1200" b="1" dirty="0">
                  <a:solidFill>
                    <a:srgbClr val="8AE000"/>
                  </a:solidFill>
                  <a:latin typeface="Arial" pitchFamily="34" charset="0"/>
                  <a:cs typeface="Arial" pitchFamily="34" charset="-120"/>
                </a:rPr>
                <a:t>11</a:t>
              </a:r>
              <a:endParaRPr lang="en-US" sz="1200" dirty="0"/>
            </a:p>
          </p:txBody>
        </p:sp>
      </p:grpSp>
      <p:sp>
        <p:nvSpPr>
          <p:cNvPr id="53" name="Text 6">
            <a:extLst>
              <a:ext uri="{FF2B5EF4-FFF2-40B4-BE49-F238E27FC236}">
                <a16:creationId xmlns:a16="http://schemas.microsoft.com/office/drawing/2014/main" id="{72FF7D92-8A8D-4408-945D-084AF2EC5967}"/>
              </a:ext>
            </a:extLst>
          </p:cNvPr>
          <p:cNvSpPr/>
          <p:nvPr/>
        </p:nvSpPr>
        <p:spPr>
          <a:xfrm>
            <a:off x="9751835" y="182880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r">
              <a:buNone/>
            </a:pPr>
            <a:r>
              <a:rPr sz="1050" b="0">
                <a:solidFill>
                  <a:srgbClr val="9FB2C0"/>
                </a:solidFill>
                <a:latin typeface="Arial"/>
              </a:rPr>
              <a:t>PARALLEL SORT</a:t>
            </a:r>
            <a:endParaRPr lang="en-US" sz="1050" dirty="0"/>
          </a:p>
        </p:txBody>
      </p:sp>
      <p:sp>
        <p:nvSpPr>
          <p:cNvPr id="55" name="Rounded Rectangle 54"/>
          <p:cNvSpPr/>
          <p:nvPr/>
        </p:nvSpPr>
        <p:spPr>
          <a:xfrm>
            <a:off x="822960" y="2148840"/>
            <a:ext cx="4754880" cy="310896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7ED1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600" b="1" dirty="0" err="1">
                <a:solidFill>
                  <a:srgbClr val="7ED10A"/>
                </a:solidFill>
                <a:latin typeface="Arial"/>
              </a:rPr>
              <a:t>Главный</a:t>
            </a:r>
            <a:r>
              <a:rPr sz="1600" b="1" dirty="0">
                <a:solidFill>
                  <a:srgbClr val="7ED10A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7ED10A"/>
                </a:solidFill>
                <a:latin typeface="Arial"/>
              </a:rPr>
              <a:t>вывод</a:t>
            </a:r>
            <a:br>
              <a:rPr lang="ru-RU" sz="1600" b="1" dirty="0">
                <a:solidFill>
                  <a:srgbClr val="7ED10A"/>
                </a:solidFill>
                <a:latin typeface="Arial"/>
              </a:rPr>
            </a:br>
            <a:endParaRPr sz="1600" b="1" dirty="0">
              <a:solidFill>
                <a:srgbClr val="7ED10A"/>
              </a:solidFill>
              <a:latin typeface="Arial"/>
            </a:endParaRPr>
          </a:p>
          <a:p>
            <a:pPr algn="l"/>
            <a:r>
              <a:rPr sz="1300" b="0" dirty="0" err="1">
                <a:solidFill>
                  <a:srgbClr val="EAF4FF"/>
                </a:solidFill>
                <a:latin typeface="Arial"/>
              </a:rPr>
              <a:t>Ускорение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получилось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не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из-за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“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больше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потоков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”, а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из-за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контроля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цены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каждого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потока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.</a:t>
            </a:r>
          </a:p>
          <a:p>
            <a:pPr algn="l"/>
            <a:endParaRPr sz="1300" b="0" dirty="0">
              <a:solidFill>
                <a:srgbClr val="EAF4FF"/>
              </a:solidFill>
              <a:latin typeface="Arial"/>
            </a:endParaRPr>
          </a:p>
          <a:p>
            <a:pPr algn="l"/>
            <a:r>
              <a:rPr sz="1300" b="0" dirty="0">
                <a:solidFill>
                  <a:srgbClr val="EAF4FF"/>
                </a:solidFill>
                <a:latin typeface="Arial"/>
              </a:rPr>
              <a:t>10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млн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int: 189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ms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→ 93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ms</a:t>
            </a:r>
            <a:endParaRPr sz="1300" b="0" dirty="0">
              <a:solidFill>
                <a:srgbClr val="EAF4FF"/>
              </a:solidFill>
              <a:latin typeface="Arial"/>
            </a:endParaRPr>
          </a:p>
          <a:p>
            <a:pPr algn="l"/>
            <a:r>
              <a:rPr sz="1300" b="0" dirty="0">
                <a:solidFill>
                  <a:srgbClr val="EAF4FF"/>
                </a:solidFill>
                <a:latin typeface="Arial"/>
              </a:rPr>
              <a:t>speedup: 2.03×</a:t>
            </a:r>
          </a:p>
          <a:p>
            <a:pPr algn="l"/>
            <a:r>
              <a:rPr sz="1300" b="0" dirty="0">
                <a:solidFill>
                  <a:srgbClr val="EAF4FF"/>
                </a:solidFill>
                <a:latin typeface="Arial"/>
              </a:rPr>
              <a:t>threshold: 16384</a:t>
            </a:r>
          </a:p>
          <a:p>
            <a:pPr algn="l"/>
            <a:r>
              <a:rPr sz="1300" b="0" dirty="0" err="1">
                <a:solidFill>
                  <a:srgbClr val="EAF4FF"/>
                </a:solidFill>
                <a:latin typeface="Arial"/>
              </a:rPr>
              <a:t>max_depth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ограничивает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async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26480" y="2148840"/>
            <a:ext cx="4754880" cy="310896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600" b="1" dirty="0">
                <a:solidFill>
                  <a:srgbClr val="46D9FF"/>
                </a:solidFill>
                <a:latin typeface="Arial"/>
              </a:rPr>
              <a:t>Q&amp;A</a:t>
            </a:r>
            <a:br>
              <a:rPr lang="ru-RU" sz="1600" b="1" dirty="0">
                <a:solidFill>
                  <a:srgbClr val="46D9FF"/>
                </a:solidFill>
                <a:latin typeface="Arial"/>
              </a:rPr>
            </a:br>
            <a:endParaRPr sz="1600" b="1" dirty="0">
              <a:solidFill>
                <a:srgbClr val="46D9FF"/>
              </a:solidFill>
              <a:latin typeface="Arial"/>
            </a:endParaRPr>
          </a:p>
          <a:p>
            <a:pPr algn="l"/>
            <a:r>
              <a:rPr sz="1300" b="0" dirty="0" err="1">
                <a:solidFill>
                  <a:srgbClr val="EAF4FF"/>
                </a:solidFill>
                <a:latin typeface="Arial"/>
              </a:rPr>
              <a:t>Готов</a:t>
            </a:r>
            <a:r>
              <a:rPr lang="ru-RU" sz="1300" b="0" dirty="0">
                <a:solidFill>
                  <a:srgbClr val="EAF4FF"/>
                </a:solidFill>
                <a:latin typeface="Arial"/>
              </a:rPr>
              <a:t>ы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обсудить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:</a:t>
            </a:r>
          </a:p>
          <a:p>
            <a:pPr algn="l"/>
            <a:r>
              <a:rPr sz="1300" b="0" dirty="0" err="1">
                <a:solidFill>
                  <a:srgbClr val="EAF4FF"/>
                </a:solidFill>
                <a:latin typeface="Arial"/>
              </a:rPr>
              <a:t>почему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не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8×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на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8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ядрах</a:t>
            </a:r>
            <a:endParaRPr sz="1300" b="0" dirty="0">
              <a:solidFill>
                <a:srgbClr val="EAF4FF"/>
              </a:solidFill>
              <a:latin typeface="Arial"/>
            </a:endParaRPr>
          </a:p>
          <a:p>
            <a:pPr algn="l"/>
            <a:r>
              <a:rPr sz="1300" b="0" dirty="0" err="1">
                <a:solidFill>
                  <a:srgbClr val="EAF4FF"/>
                </a:solidFill>
                <a:latin typeface="Arial"/>
              </a:rPr>
              <a:t>как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выбрать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threshold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под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CPU</a:t>
            </a:r>
          </a:p>
          <a:p>
            <a:pPr algn="l"/>
            <a:r>
              <a:rPr sz="1300" b="0" dirty="0" err="1">
                <a:solidFill>
                  <a:srgbClr val="EAF4FF"/>
                </a:solidFill>
                <a:latin typeface="Arial"/>
              </a:rPr>
              <a:t>где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std::sort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остаётся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лучшим</a:t>
            </a:r>
            <a:endParaRPr sz="1300" b="0" dirty="0">
              <a:solidFill>
                <a:srgbClr val="EAF4FF"/>
              </a:solidFill>
              <a:latin typeface="Arial"/>
            </a:endParaRPr>
          </a:p>
          <a:p>
            <a:pPr algn="l"/>
            <a:r>
              <a:rPr sz="1300" b="0" dirty="0" err="1">
                <a:solidFill>
                  <a:srgbClr val="EAF4FF"/>
                </a:solidFill>
                <a:latin typeface="Arial"/>
              </a:rPr>
              <a:t>как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проверять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корректность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sort</a:t>
            </a:r>
          </a:p>
          <a:p>
            <a:pPr algn="l"/>
            <a:r>
              <a:rPr sz="1300" b="0" dirty="0" err="1">
                <a:solidFill>
                  <a:srgbClr val="EAF4FF"/>
                </a:solidFill>
                <a:latin typeface="Arial"/>
              </a:rPr>
              <a:t>что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добавить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в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следующей</a:t>
            </a:r>
            <a:r>
              <a:rPr sz="13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EAF4FF"/>
                </a:solidFill>
                <a:latin typeface="Arial"/>
              </a:rPr>
              <a:t>версии</a:t>
            </a:r>
            <a:endParaRPr sz="1300" b="0" dirty="0">
              <a:solidFill>
                <a:srgbClr val="EAF4FF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51973C51-87BD-4DBD-BC73-E91CD4B62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30352" y="347472"/>
            <a:ext cx="11100816" cy="0"/>
          </a:xfrm>
          <a:prstGeom prst="line">
            <a:avLst/>
          </a:prstGeom>
          <a:noFill/>
          <a:ln w="12700">
            <a:solidFill>
              <a:srgbClr val="2636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30352" y="6455664"/>
            <a:ext cx="11100816" cy="0"/>
          </a:xfrm>
          <a:prstGeom prst="line">
            <a:avLst/>
          </a:prstGeom>
          <a:noFill/>
          <a:ln w="12700">
            <a:solidFill>
              <a:srgbClr val="263645">
                <a:alpha val="8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 rot="10800000">
            <a:off x="11185855" y="-1005840"/>
            <a:ext cx="2011680" cy="2011680"/>
          </a:xfrm>
          <a:prstGeom prst="arc">
            <a:avLst/>
          </a:prstGeom>
          <a:solidFill>
            <a:srgbClr val="76B900">
              <a:alpha val="8000"/>
            </a:srgbClr>
          </a:solidFill>
          <a:ln w="12700">
            <a:solidFill>
              <a:srgbClr val="76B900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97256268-BB0E-4F5C-836E-0D8850136086}"/>
              </a:ext>
            </a:extLst>
          </p:cNvPr>
          <p:cNvGrpSpPr/>
          <p:nvPr/>
        </p:nvGrpSpPr>
        <p:grpSpPr>
          <a:xfrm>
            <a:off x="140185" y="117434"/>
            <a:ext cx="420946" cy="374904"/>
            <a:chOff x="140185" y="117434"/>
            <a:chExt cx="420946" cy="374904"/>
          </a:xfrm>
        </p:grpSpPr>
        <p:sp>
          <p:nvSpPr>
            <p:cNvPr id="33" name="Shape 3">
              <a:extLst>
                <a:ext uri="{FF2B5EF4-FFF2-40B4-BE49-F238E27FC236}">
                  <a16:creationId xmlns:a16="http://schemas.microsoft.com/office/drawing/2014/main" id="{82B65463-3741-4171-85B5-611B632EDD1C}"/>
                </a:ext>
              </a:extLst>
            </p:cNvPr>
            <p:cNvSpPr/>
            <p:nvPr/>
          </p:nvSpPr>
          <p:spPr>
            <a:xfrm>
              <a:off x="140185" y="117434"/>
              <a:ext cx="420946" cy="374904"/>
            </a:xfrm>
            <a:prstGeom prst="roundRect">
              <a:avLst/>
            </a:prstGeom>
            <a:solidFill>
              <a:srgbClr val="1A320D">
                <a:alpha val="85000"/>
              </a:srgbClr>
            </a:solidFill>
            <a:ln w="12700">
              <a:solidFill>
                <a:srgbClr val="8AE000"/>
              </a:solidFill>
              <a:prstDash val="solid"/>
            </a:ln>
          </p:spPr>
          <p:txBody>
            <a:bodyPr/>
            <a:lstStyle/>
            <a:p>
              <a:endParaRPr lang="ru-RU" dirty="0"/>
            </a:p>
          </p:txBody>
        </p:sp>
        <p:sp>
          <p:nvSpPr>
            <p:cNvPr id="34" name="Text 4">
              <a:extLst>
                <a:ext uri="{FF2B5EF4-FFF2-40B4-BE49-F238E27FC236}">
                  <a16:creationId xmlns:a16="http://schemas.microsoft.com/office/drawing/2014/main" id="{1D950EF8-38E3-46D8-8901-0D43686848D9}"/>
                </a:ext>
              </a:extLst>
            </p:cNvPr>
            <p:cNvSpPr/>
            <p:nvPr/>
          </p:nvSpPr>
          <p:spPr>
            <a:xfrm>
              <a:off x="185285" y="219870"/>
              <a:ext cx="330743" cy="1426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Autofit/>
            </a:bodyPr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ru-RU" sz="1200" b="1" dirty="0">
                  <a:solidFill>
                    <a:srgbClr val="8AE000"/>
                  </a:solidFill>
                  <a:latin typeface="Arial" pitchFamily="34" charset="0"/>
                  <a:cs typeface="Arial" pitchFamily="34" charset="-120"/>
                </a:rPr>
                <a:t>12</a:t>
              </a:r>
              <a:endParaRPr lang="en-US" sz="1200" dirty="0"/>
            </a:p>
          </p:txBody>
        </p:sp>
      </p:grpSp>
      <p:sp>
        <p:nvSpPr>
          <p:cNvPr id="35" name="Text 6">
            <a:extLst>
              <a:ext uri="{FF2B5EF4-FFF2-40B4-BE49-F238E27FC236}">
                <a16:creationId xmlns:a16="http://schemas.microsoft.com/office/drawing/2014/main" id="{82A3064E-5BDB-4B60-8A47-CFF4F9D3A11A}"/>
              </a:ext>
            </a:extLst>
          </p:cNvPr>
          <p:cNvSpPr/>
          <p:nvPr/>
        </p:nvSpPr>
        <p:spPr>
          <a:xfrm>
            <a:off x="9751835" y="182880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5000"/>
          </a:bodyPr>
          <a:lstStyle/>
          <a:p>
            <a:pPr marL="0" indent="0" algn="r">
              <a:buNone/>
            </a:pPr>
            <a:r>
              <a:rPr sz="1050" b="0">
                <a:solidFill>
                  <a:srgbClr val="9FB2C0"/>
                </a:solidFill>
                <a:latin typeface="Arial"/>
              </a:rPr>
              <a:t>PARALLEL SORT</a:t>
            </a:r>
            <a:endParaRPr lang="en-US" sz="1050" dirty="0"/>
          </a:p>
        </p:txBody>
      </p:sp>
      <p:sp>
        <p:nvSpPr>
          <p:cNvPr id="37" name="TextBox 36"/>
          <p:cNvSpPr txBox="1"/>
          <p:nvPr/>
        </p:nvSpPr>
        <p:spPr>
          <a:xfrm>
            <a:off x="777240" y="1481328"/>
            <a:ext cx="9875520" cy="384048"/>
          </a:xfrm>
          <a:prstGeom prst="rect">
            <a:avLst/>
          </a:prstGeom>
          <a:noFill/>
        </p:spPr>
        <p:txBody>
          <a:bodyPr wrap="square" anchor="t">
            <a:normAutofit fontScale="95000" lnSpcReduction="10000"/>
          </a:bodyPr>
          <a:lstStyle/>
          <a:p>
            <a:pPr algn="l"/>
            <a:r>
              <a:rPr sz="2100" b="1">
                <a:solidFill>
                  <a:srgbClr val="EAF4FF"/>
                </a:solidFill>
                <a:latin typeface="Arial"/>
              </a:rPr>
              <a:t>BACKUP: вопросы, которые могут задать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2240280"/>
            <a:ext cx="4846320" cy="91440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7ED1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400" b="1" dirty="0" err="1">
                <a:solidFill>
                  <a:srgbClr val="7ED10A"/>
                </a:solidFill>
                <a:latin typeface="Arial"/>
              </a:rPr>
              <a:t>Почему</a:t>
            </a:r>
            <a:r>
              <a:rPr sz="1400" b="1" dirty="0">
                <a:solidFill>
                  <a:srgbClr val="7ED10A"/>
                </a:solidFill>
                <a:latin typeface="Arial"/>
              </a:rPr>
              <a:t> speedup </a:t>
            </a:r>
            <a:r>
              <a:rPr sz="1400" b="1" dirty="0" err="1">
                <a:solidFill>
                  <a:srgbClr val="7ED10A"/>
                </a:solidFill>
                <a:latin typeface="Arial"/>
              </a:rPr>
              <a:t>не</a:t>
            </a:r>
            <a:r>
              <a:rPr sz="1400" b="1" dirty="0">
                <a:solidFill>
                  <a:srgbClr val="7ED10A"/>
                </a:solidFill>
                <a:latin typeface="Arial"/>
              </a:rPr>
              <a:t> 8×?</a:t>
            </a:r>
            <a:br>
              <a:rPr lang="ru-RU" sz="1400" b="1" dirty="0">
                <a:solidFill>
                  <a:srgbClr val="7ED10A"/>
                </a:solidFill>
                <a:latin typeface="Arial"/>
              </a:rPr>
            </a:br>
            <a:endParaRPr sz="1400" b="1" dirty="0">
              <a:solidFill>
                <a:srgbClr val="7ED10A"/>
              </a:solidFill>
              <a:latin typeface="Arial"/>
            </a:endParaRPr>
          </a:p>
          <a:p>
            <a:pPr algn="l"/>
            <a:r>
              <a:rPr sz="1200" b="0" dirty="0" err="1">
                <a:solidFill>
                  <a:srgbClr val="EAF4FF"/>
                </a:solidFill>
                <a:latin typeface="Arial"/>
              </a:rPr>
              <a:t>Память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общая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,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финальное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слияние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частично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последовательное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35040" y="2240280"/>
            <a:ext cx="4846320" cy="91440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400" b="1" dirty="0" err="1">
                <a:solidFill>
                  <a:srgbClr val="46D9FF"/>
                </a:solidFill>
                <a:latin typeface="Arial"/>
              </a:rPr>
              <a:t>Почему</a:t>
            </a:r>
            <a:r>
              <a:rPr sz="1400" b="1" dirty="0">
                <a:solidFill>
                  <a:srgbClr val="46D9FF"/>
                </a:solidFill>
                <a:latin typeface="Arial"/>
              </a:rPr>
              <a:t> threshold = 16384?</a:t>
            </a:r>
            <a:br>
              <a:rPr lang="ru-RU" sz="1400" b="1" dirty="0">
                <a:solidFill>
                  <a:srgbClr val="46D9FF"/>
                </a:solidFill>
                <a:latin typeface="Arial"/>
              </a:rPr>
            </a:br>
            <a:endParaRPr sz="1400" b="1" dirty="0">
              <a:solidFill>
                <a:srgbClr val="46D9FF"/>
              </a:solidFill>
              <a:latin typeface="Arial"/>
            </a:endParaRPr>
          </a:p>
          <a:p>
            <a:pPr algn="l"/>
            <a:r>
              <a:rPr sz="1200" b="0" dirty="0" err="1">
                <a:solidFill>
                  <a:srgbClr val="EAF4FF"/>
                </a:solidFill>
                <a:latin typeface="Arial"/>
              </a:rPr>
              <a:t>Для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int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это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64 КБ: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рабочий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кусок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хорошо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ложится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в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кэш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3566160"/>
            <a:ext cx="4846320" cy="91440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FFD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400" b="1" dirty="0" err="1">
                <a:solidFill>
                  <a:srgbClr val="FFD24D"/>
                </a:solidFill>
                <a:latin typeface="Arial"/>
              </a:rPr>
              <a:t>Почему</a:t>
            </a:r>
            <a:r>
              <a:rPr sz="1400" b="1" dirty="0">
                <a:solidFill>
                  <a:srgbClr val="FFD24D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FD24D"/>
                </a:solidFill>
                <a:latin typeface="Arial"/>
              </a:rPr>
              <a:t>не</a:t>
            </a:r>
            <a:r>
              <a:rPr sz="1400" b="1" dirty="0">
                <a:solidFill>
                  <a:srgbClr val="FFD24D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FD24D"/>
                </a:solidFill>
                <a:latin typeface="Arial"/>
              </a:rPr>
              <a:t>всегда</a:t>
            </a:r>
            <a:r>
              <a:rPr sz="1400" b="1" dirty="0">
                <a:solidFill>
                  <a:srgbClr val="FFD24D"/>
                </a:solidFill>
                <a:latin typeface="Arial"/>
              </a:rPr>
              <a:t> async?</a:t>
            </a:r>
            <a:br>
              <a:rPr lang="ru-RU" sz="1400" b="1" dirty="0">
                <a:solidFill>
                  <a:srgbClr val="FFD24D"/>
                </a:solidFill>
                <a:latin typeface="Arial"/>
              </a:rPr>
            </a:br>
            <a:endParaRPr sz="1400" b="1" dirty="0">
              <a:solidFill>
                <a:srgbClr val="FFD24D"/>
              </a:solidFill>
              <a:latin typeface="Arial"/>
            </a:endParaRPr>
          </a:p>
          <a:p>
            <a:pPr algn="l"/>
            <a:r>
              <a:rPr sz="1200" b="0" dirty="0" err="1">
                <a:solidFill>
                  <a:srgbClr val="EAF4FF"/>
                </a:solidFill>
                <a:latin typeface="Arial"/>
              </a:rPr>
              <a:t>Малые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задачи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платят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overhead 10–50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мкс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и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могут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стать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медленнее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35040" y="3566160"/>
            <a:ext cx="4846320" cy="91440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400" b="1" dirty="0" err="1">
                <a:solidFill>
                  <a:srgbClr val="FF4D6D"/>
                </a:solidFill>
                <a:latin typeface="Arial"/>
              </a:rPr>
              <a:t>Сортировка</a:t>
            </a:r>
            <a:r>
              <a:rPr sz="1400" b="1" dirty="0">
                <a:solidFill>
                  <a:srgbClr val="FF4D6D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FF4D6D"/>
                </a:solidFill>
                <a:latin typeface="Arial"/>
              </a:rPr>
              <a:t>стабильная</a:t>
            </a:r>
            <a:r>
              <a:rPr sz="1400" b="1" dirty="0">
                <a:solidFill>
                  <a:srgbClr val="FF4D6D"/>
                </a:solidFill>
                <a:latin typeface="Arial"/>
              </a:rPr>
              <a:t>?</a:t>
            </a:r>
            <a:br>
              <a:rPr lang="ru-RU" sz="1400" b="1" dirty="0">
                <a:solidFill>
                  <a:srgbClr val="FF4D6D"/>
                </a:solidFill>
                <a:latin typeface="Arial"/>
              </a:rPr>
            </a:br>
            <a:endParaRPr sz="1400" b="1" dirty="0">
              <a:solidFill>
                <a:srgbClr val="FF4D6D"/>
              </a:solidFill>
              <a:latin typeface="Arial"/>
            </a:endParaRPr>
          </a:p>
          <a:p>
            <a:pPr algn="l"/>
            <a:r>
              <a:rPr sz="1200" b="0" dirty="0" err="1">
                <a:solidFill>
                  <a:srgbClr val="EAF4FF"/>
                </a:solidFill>
                <a:latin typeface="Arial"/>
              </a:rPr>
              <a:t>Если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листья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идут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через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std::sort —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строгая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стабильность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не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гарантируется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108960" y="4892040"/>
            <a:ext cx="5943600" cy="914400"/>
          </a:xfrm>
          <a:prstGeom prst="roundRect">
            <a:avLst/>
          </a:prstGeom>
          <a:solidFill>
            <a:srgbClr val="0A1C2A"/>
          </a:solidFill>
          <a:ln w="19050">
            <a:solidFill>
              <a:srgbClr val="7ED1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>
            <a:normAutofit fontScale="95000"/>
          </a:bodyPr>
          <a:lstStyle/>
          <a:p>
            <a:pPr algn="l"/>
            <a:r>
              <a:rPr sz="1400" b="1" dirty="0" err="1">
                <a:solidFill>
                  <a:srgbClr val="7ED10A"/>
                </a:solidFill>
                <a:latin typeface="Arial"/>
              </a:rPr>
              <a:t>Что</a:t>
            </a:r>
            <a:r>
              <a:rPr sz="1400" b="1" dirty="0">
                <a:solidFill>
                  <a:srgbClr val="7ED10A"/>
                </a:solidFill>
                <a:latin typeface="Arial"/>
              </a:rPr>
              <a:t> </a:t>
            </a:r>
            <a:r>
              <a:rPr sz="1400" b="1" dirty="0" err="1">
                <a:solidFill>
                  <a:srgbClr val="7ED10A"/>
                </a:solidFill>
                <a:latin typeface="Arial"/>
              </a:rPr>
              <a:t>дальше</a:t>
            </a:r>
            <a:r>
              <a:rPr sz="1400" b="1" dirty="0">
                <a:solidFill>
                  <a:srgbClr val="7ED10A"/>
                </a:solidFill>
                <a:latin typeface="Arial"/>
              </a:rPr>
              <a:t>?</a:t>
            </a:r>
            <a:br>
              <a:rPr lang="ru-RU" sz="1400" b="1" dirty="0">
                <a:solidFill>
                  <a:srgbClr val="7ED10A"/>
                </a:solidFill>
                <a:latin typeface="Arial"/>
              </a:rPr>
            </a:br>
            <a:endParaRPr sz="1400" b="1" dirty="0">
              <a:solidFill>
                <a:srgbClr val="7ED10A"/>
              </a:solidFill>
              <a:latin typeface="Arial"/>
            </a:endParaRPr>
          </a:p>
          <a:p>
            <a:pPr algn="l"/>
            <a:r>
              <a:rPr sz="1200" b="0" dirty="0">
                <a:solidFill>
                  <a:srgbClr val="EAF4FF"/>
                </a:solidFill>
                <a:latin typeface="Arial"/>
              </a:rPr>
              <a:t>Thread pool,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больше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benchmark-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сценариев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и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автонастройка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threshold </a:t>
            </a:r>
            <a:r>
              <a:rPr sz="1200" b="0" dirty="0" err="1">
                <a:solidFill>
                  <a:srgbClr val="EAF4FF"/>
                </a:solidFill>
                <a:latin typeface="Arial"/>
              </a:rPr>
              <a:t>под</a:t>
            </a:r>
            <a:r>
              <a:rPr sz="1200" b="0" dirty="0">
                <a:solidFill>
                  <a:srgbClr val="EAF4FF"/>
                </a:solidFill>
                <a:latin typeface="Arial"/>
              </a:rPr>
              <a:t> CPU.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_assets/b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0352" y="356616"/>
            <a:ext cx="11045952" cy="0"/>
          </a:xfrm>
          <a:prstGeom prst="line">
            <a:avLst/>
          </a:prstGeom>
          <a:noFill/>
          <a:ln w="12700">
            <a:solidFill>
              <a:srgbClr val="29435F">
                <a:alpha val="9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6446520"/>
            <a:ext cx="11045952" cy="0"/>
          </a:xfrm>
          <a:prstGeom prst="line">
            <a:avLst/>
          </a:prstGeom>
          <a:noFill/>
          <a:ln w="12700">
            <a:solidFill>
              <a:srgbClr val="29435F">
                <a:alpha val="9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555480" y="1554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B8C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 SORT · ADD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46304" y="118872"/>
            <a:ext cx="420624" cy="393192"/>
          </a:xfrm>
          <a:prstGeom prst="roundRect">
            <a:avLst>
              <a:gd name="adj" fmla="val 13953"/>
            </a:avLst>
          </a:prstGeom>
          <a:solidFill>
            <a:srgbClr val="030F20">
              <a:alpha val="90000"/>
            </a:srgbClr>
          </a:solidFill>
          <a:ln w="17780">
            <a:solidFill>
              <a:srgbClr val="7CDF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6304" y="192024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DF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49808" y="56692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7CDF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РЕПОЗИТОРИЙ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9808" y="91440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EAF2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реально лежит в проекте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749808" y="1536192"/>
            <a:ext cx="97840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AAB9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Дополнительный слайд для защиты: быстро показать GitHub и структуру файлов.</a:t>
            </a:r>
            <a:endParaRPr lang="en-US" sz="1450" dirty="0"/>
          </a:p>
        </p:txBody>
      </p:sp>
      <p:pic>
        <p:nvPicPr>
          <p:cNvPr id="12" name="Image 1" descr="/mnt/data/extra_assets/repo_stru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2148840"/>
            <a:ext cx="6537960" cy="382219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635240" y="2148840"/>
            <a:ext cx="3611880" cy="3822192"/>
          </a:xfrm>
          <a:prstGeom prst="roundRect">
            <a:avLst>
              <a:gd name="adj" fmla="val 2025"/>
            </a:avLst>
          </a:prstGeom>
          <a:solidFill>
            <a:srgbClr val="061C2F">
              <a:alpha val="95000"/>
            </a:srgbClr>
          </a:solidFill>
          <a:ln w="17780">
            <a:solidFill>
              <a:srgbClr val="7CDF0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933017" y="24003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DF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GitHub</a:t>
            </a:r>
            <a:endParaRPr lang="en-US" sz="1800" dirty="0"/>
          </a:p>
        </p:txBody>
      </p:sp>
      <p:pic>
        <p:nvPicPr>
          <p:cNvPr id="16" name="Image 2" descr="/mnt/data/extra_assets/repo_q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2128" y="3127249"/>
            <a:ext cx="1828800" cy="18288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73568" y="5532121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DD6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README · C++20 · SFML · benchmarks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_assets/b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0352" y="356616"/>
            <a:ext cx="11045952" cy="0"/>
          </a:xfrm>
          <a:prstGeom prst="line">
            <a:avLst/>
          </a:prstGeom>
          <a:noFill/>
          <a:ln w="12700">
            <a:solidFill>
              <a:srgbClr val="29435F">
                <a:alpha val="9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6446520"/>
            <a:ext cx="11045952" cy="0"/>
          </a:xfrm>
          <a:prstGeom prst="line">
            <a:avLst/>
          </a:prstGeom>
          <a:noFill/>
          <a:ln w="12700">
            <a:solidFill>
              <a:srgbClr val="29435F">
                <a:alpha val="9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555480" y="1554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B8C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 SORT · ADD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46304" y="118872"/>
            <a:ext cx="420624" cy="393192"/>
          </a:xfrm>
          <a:prstGeom prst="roundRect">
            <a:avLst>
              <a:gd name="adj" fmla="val 13953"/>
            </a:avLst>
          </a:prstGeom>
          <a:solidFill>
            <a:srgbClr val="030F20">
              <a:alpha val="90000"/>
            </a:srgbClr>
          </a:solidFill>
          <a:ln w="17780">
            <a:solidFill>
              <a:srgbClr val="7CDF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6304" y="192024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DF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49808" y="56692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7CDF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ВИЗУАЛИЗАТОР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9808" y="91440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EAF2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SFML-демо: управление и цветовая логика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749808" y="1536192"/>
            <a:ext cx="97840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AAB9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Этот слайд закрывает вопрос “как именно демонстрировать работу алгоритма”.</a:t>
            </a:r>
            <a:endParaRPr lang="en-US" sz="1450" dirty="0"/>
          </a:p>
        </p:txBody>
      </p:sp>
      <p:pic>
        <p:nvPicPr>
          <p:cNvPr id="12" name="Image 1" descr="/mnt/data/extra_assets/visualizer_contro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8076" y="2048257"/>
            <a:ext cx="7965766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_assets/b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0352" y="356616"/>
            <a:ext cx="11045952" cy="0"/>
          </a:xfrm>
          <a:prstGeom prst="line">
            <a:avLst/>
          </a:prstGeom>
          <a:noFill/>
          <a:ln w="12700">
            <a:solidFill>
              <a:srgbClr val="29435F">
                <a:alpha val="9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6446520"/>
            <a:ext cx="11045952" cy="0"/>
          </a:xfrm>
          <a:prstGeom prst="line">
            <a:avLst/>
          </a:prstGeom>
          <a:noFill/>
          <a:ln w="12700">
            <a:solidFill>
              <a:srgbClr val="29435F">
                <a:alpha val="9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555480" y="1554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B8C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 SORT · ADD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46304" y="118872"/>
            <a:ext cx="420624" cy="393192"/>
          </a:xfrm>
          <a:prstGeom prst="roundRect">
            <a:avLst>
              <a:gd name="adj" fmla="val 13953"/>
            </a:avLst>
          </a:prstGeom>
          <a:solidFill>
            <a:srgbClr val="030F20">
              <a:alpha val="90000"/>
            </a:srgbClr>
          </a:solidFill>
          <a:ln w="17780">
            <a:solidFill>
              <a:srgbClr val="7CDF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6304" y="192024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DF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A3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49808" y="56692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7CDF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BENCHMARK BACKUP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9808" y="91440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EAF2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Три сценария из README: где алгоритм выигрывает, а где честно проигрывает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749808" y="1536192"/>
            <a:ext cx="97840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AAB9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Лучший, худший и средний случай показывают не только speedup, но и границы применимости.</a:t>
            </a:r>
            <a:endParaRPr lang="en-US" sz="1450" dirty="0"/>
          </a:p>
        </p:txBody>
      </p:sp>
      <p:pic>
        <p:nvPicPr>
          <p:cNvPr id="12" name="Image 1" descr="/mnt/data/extra_assets/benchmark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011680"/>
            <a:ext cx="6995160" cy="395020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973568" y="214884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061C2F">
              <a:alpha val="95000"/>
            </a:srgbClr>
          </a:solidFill>
          <a:ln w="16510">
            <a:solidFill>
              <a:srgbClr val="7CDF0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119872" y="2267712"/>
            <a:ext cx="3136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7CDF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Главная мысль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8119872" y="2606040"/>
            <a:ext cx="3136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2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 Random-сценарии Parallel Merge Sort даёт 2.33×. На Worst Case результат хуже std::sort — это честный аргумент про overhead и тяжёлые слияния.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973568" y="3977640"/>
            <a:ext cx="3429000" cy="1170432"/>
          </a:xfrm>
          <a:prstGeom prst="roundRect">
            <a:avLst>
              <a:gd name="adj" fmla="val 6250"/>
            </a:avLst>
          </a:prstGeom>
          <a:solidFill>
            <a:srgbClr val="061C2F">
              <a:alpha val="95000"/>
            </a:srgbClr>
          </a:solidFill>
          <a:ln w="16510">
            <a:solidFill>
              <a:srgbClr val="4DD6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19872" y="4096512"/>
            <a:ext cx="3136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4DD6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сказать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8119872" y="4434840"/>
            <a:ext cx="3136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EAF2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Ускорение не “магическое”: оно появляется только там, где размер задачи окупает async, кэш и распараллеливание.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092440" y="5650992"/>
            <a:ext cx="3154680" cy="329184"/>
          </a:xfrm>
          <a:prstGeom prst="roundRect">
            <a:avLst>
              <a:gd name="adj" fmla="val 22222"/>
            </a:avLst>
          </a:prstGeom>
          <a:solidFill>
            <a:srgbClr val="061C2F">
              <a:alpha val="94000"/>
            </a:srgbClr>
          </a:solidFill>
          <a:ln w="15240">
            <a:solidFill>
              <a:srgbClr val="FFD14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183880" y="5724144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D1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std::sort остаётся сильным baseline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_assets/b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0352" y="356616"/>
            <a:ext cx="11045952" cy="0"/>
          </a:xfrm>
          <a:prstGeom prst="line">
            <a:avLst/>
          </a:prstGeom>
          <a:noFill/>
          <a:ln w="12700">
            <a:solidFill>
              <a:srgbClr val="29435F">
                <a:alpha val="9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6446520"/>
            <a:ext cx="11045952" cy="0"/>
          </a:xfrm>
          <a:prstGeom prst="line">
            <a:avLst/>
          </a:prstGeom>
          <a:noFill/>
          <a:ln w="12700">
            <a:solidFill>
              <a:srgbClr val="29435F">
                <a:alpha val="9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555480" y="1554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B8C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 SORT · ADD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46304" y="118872"/>
            <a:ext cx="420624" cy="393192"/>
          </a:xfrm>
          <a:prstGeom prst="roundRect">
            <a:avLst>
              <a:gd name="adj" fmla="val 13953"/>
            </a:avLst>
          </a:prstGeom>
          <a:solidFill>
            <a:srgbClr val="030F20">
              <a:alpha val="90000"/>
            </a:srgbClr>
          </a:solidFill>
          <a:ln w="17780">
            <a:solidFill>
              <a:srgbClr val="7CDF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6304" y="192024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DF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A4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49808" y="56692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7CDF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ВИДЕОДЕМО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9808" y="91440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EAF2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Сценарий показа проекта на 5 минут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749808" y="1536192"/>
            <a:ext cx="97840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AAB9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 требованиям модуля важно показать ключевые компоненты и тестовые примеры без затягивания.</a:t>
            </a:r>
            <a:endParaRPr lang="en-US" sz="1450" dirty="0"/>
          </a:p>
        </p:txBody>
      </p:sp>
      <p:pic>
        <p:nvPicPr>
          <p:cNvPr id="12" name="Image 1" descr="/mnt/data/extra_assets/demo_tim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3725" y="2057400"/>
            <a:ext cx="7479205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tra_assets/bg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0352" y="356616"/>
            <a:ext cx="11045952" cy="0"/>
          </a:xfrm>
          <a:prstGeom prst="line">
            <a:avLst/>
          </a:prstGeom>
          <a:noFill/>
          <a:ln w="12700">
            <a:solidFill>
              <a:srgbClr val="29435F">
                <a:alpha val="9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30352" y="6446520"/>
            <a:ext cx="11045952" cy="0"/>
          </a:xfrm>
          <a:prstGeom prst="line">
            <a:avLst/>
          </a:prstGeom>
          <a:noFill/>
          <a:ln w="12700">
            <a:solidFill>
              <a:srgbClr val="29435F">
                <a:alpha val="9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555480" y="1554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B8C6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 SORT · ADD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46304" y="118872"/>
            <a:ext cx="420624" cy="393192"/>
          </a:xfrm>
          <a:prstGeom prst="roundRect">
            <a:avLst>
              <a:gd name="adj" fmla="val 13953"/>
            </a:avLst>
          </a:prstGeom>
          <a:solidFill>
            <a:srgbClr val="030F20">
              <a:alpha val="90000"/>
            </a:srgbClr>
          </a:solidFill>
          <a:ln w="17780">
            <a:solidFill>
              <a:srgbClr val="7CDF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6304" y="192024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DF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49808" y="56692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7CDF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ЧЕСТНЫЕ ОТВЕТЫ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9808" y="91440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EAF2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Ограничения, которые лучше сказать самому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749808" y="1536192"/>
            <a:ext cx="97840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AAB9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Этот слайд нужен как backup, если спросят про худший случай, память и потолок ускорения.</a:t>
            </a:r>
            <a:endParaRPr lang="en-US" sz="1450" dirty="0"/>
          </a:p>
        </p:txBody>
      </p:sp>
      <p:pic>
        <p:nvPicPr>
          <p:cNvPr id="12" name="Image 1" descr="/mnt/data/extra_assets/honest_limi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468" y="2011680"/>
            <a:ext cx="7210757" cy="434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1061</TotalTime>
  <Words>1616</Words>
  <Application>Microsoft Office PowerPoint</Application>
  <PresentationFormat>Широкоэкранный</PresentationFormat>
  <Paragraphs>298</Paragraphs>
  <Slides>20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АГУ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NextGen Slicer v4</dc:title>
  <dc:subject>NextGen Slicer defense presentation</dc:subject>
  <dc:creator>OpenAI Codex</dc:creator>
  <cp:lastModifiedBy>Даниил Григорьев</cp:lastModifiedBy>
  <cp:revision>71</cp:revision>
  <dcterms:created xsi:type="dcterms:W3CDTF">2026-05-18T19:18:09Z</dcterms:created>
  <dcterms:modified xsi:type="dcterms:W3CDTF">2026-06-06T06:55:17Z</dcterms:modified>
</cp:coreProperties>
</file>